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70" r:id="rId1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41E3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p:spPr>
      </p:sp>
      <p:sp>
        <p:nvSpPr>
          <p:cNvPr id="3" name="Shape 1"/>
          <p:cNvSpPr/>
          <p:nvPr/>
        </p:nvSpPr>
        <p:spPr>
          <a:xfrm>
            <a:off x="0" y="5070348"/>
            <a:ext cx="9144000" cy="73152"/>
          </a:xfrm>
          <a:prstGeom prst="rect">
            <a:avLst/>
          </a:prstGeom>
          <a:solidFill>
            <a:srgbClr val="D4A843"/>
          </a:solidFill>
        </p:spPr>
      </p:sp>
      <p:sp>
        <p:nvSpPr>
          <p:cNvPr id="4" name="Shape 2"/>
          <p:cNvSpPr/>
          <p:nvPr/>
        </p:nvSpPr>
        <p:spPr>
          <a:xfrm>
            <a:off x="1097280" y="914400"/>
            <a:ext cx="6949440" cy="3291840"/>
          </a:xfrm>
          <a:prstGeom prst="rect">
            <a:avLst/>
          </a:prstGeom>
          <a:solidFill>
            <a:srgbClr val="8B1A2B"/>
          </a:solidFill>
          <a:effectLst>
            <a:outerShdw blurRad="101600" dist="38100" dir="8100000" algn="bl" rotWithShape="0">
              <a:srgbClr val="000000">
                <a:alpha val="25000"/>
              </a:srgbClr>
            </a:outerShdw>
          </a:effectLst>
        </p:spPr>
      </p:sp>
      <p:sp>
        <p:nvSpPr>
          <p:cNvPr id="5" name="Shape 3"/>
          <p:cNvSpPr/>
          <p:nvPr/>
        </p:nvSpPr>
        <p:spPr>
          <a:xfrm>
            <a:off x="1234440" y="1051560"/>
            <a:ext cx="6675120" cy="3017520"/>
          </a:xfrm>
          <a:prstGeom prst="rect">
            <a:avLst/>
          </a:prstGeom>
          <a:solidFill>
            <a:srgbClr val="000000">
              <a:alpha val="0"/>
            </a:srgbClr>
          </a:solidFill>
          <a:ln w="19050">
            <a:solidFill>
              <a:srgbClr val="D4A843"/>
            </a:solidFill>
            <a:prstDash val="solid"/>
          </a:ln>
        </p:spPr>
      </p:sp>
      <p:sp>
        <p:nvSpPr>
          <p:cNvPr id="6" name="Text 4"/>
          <p:cNvSpPr/>
          <p:nvPr/>
        </p:nvSpPr>
        <p:spPr>
          <a:xfrm>
            <a:off x="1463040" y="1371600"/>
            <a:ext cx="6217920" cy="1645920"/>
          </a:xfrm>
          <a:prstGeom prst="rect">
            <a:avLst/>
          </a:prstGeom>
          <a:noFill/>
        </p:spPr>
        <p:txBody>
          <a:bodyPr wrap="square" rtlCol="0" anchor="ctr"/>
          <a:lstStyle/>
          <a:p>
            <a:pPr marL="0" indent="0" algn="ctr">
              <a:lnSpc>
                <a:spcPct val="150000"/>
              </a:lnSpc>
              <a:buNone/>
            </a:pPr>
            <a:r>
              <a:rPr lang="en-US" sz="3200" b="1" dirty="0">
                <a:solidFill>
                  <a:srgbClr val="D4A843"/>
                </a:solidFill>
                <a:latin typeface="黑体" panose="02010609060101010101" pitchFamily="34" charset="-122"/>
                <a:ea typeface="黑体" panose="02010609060101010101" pitchFamily="34" charset="-122"/>
                <a:cs typeface="黑体" panose="02010609060101010101" pitchFamily="34" charset="-120"/>
              </a:rPr>
              <a:t>中国特色大国外交</a:t>
            </a:r>
            <a:endParaRPr lang="en-US" sz="3200" dirty="0"/>
          </a:p>
          <a:p>
            <a:pPr marL="0" indent="0" algn="ctr">
              <a:lnSpc>
                <a:spcPct val="150000"/>
              </a:lnSpc>
              <a:buNone/>
            </a:pPr>
            <a:r>
              <a:rPr lang="en-US" sz="3200" b="1" dirty="0">
                <a:solidFill>
                  <a:srgbClr val="D4A843"/>
                </a:solidFill>
                <a:latin typeface="黑体" panose="02010609060101010101" pitchFamily="34" charset="-122"/>
                <a:ea typeface="黑体" panose="02010609060101010101" pitchFamily="34" charset="-122"/>
                <a:cs typeface="黑体" panose="02010609060101010101" pitchFamily="34" charset="-120"/>
              </a:rPr>
              <a:t>和推动构建人类命运共同体</a:t>
            </a:r>
            <a:endParaRPr lang="en-US" sz="3200" dirty="0"/>
          </a:p>
        </p:txBody>
      </p:sp>
      <p:sp>
        <p:nvSpPr>
          <p:cNvPr id="7" name="Text 5"/>
          <p:cNvSpPr/>
          <p:nvPr/>
        </p:nvSpPr>
        <p:spPr>
          <a:xfrm>
            <a:off x="1463040" y="2926080"/>
            <a:ext cx="6217920" cy="457200"/>
          </a:xfrm>
          <a:prstGeom prst="rect">
            <a:avLst/>
          </a:prstGeom>
          <a:noFill/>
        </p:spPr>
        <p:txBody>
          <a:bodyPr wrap="square" lIns="0" tIns="0" rIns="0" bIns="0" rtlCol="0" anchor="ctr"/>
          <a:lstStyle/>
          <a:p>
            <a:pPr marL="0" indent="0" algn="ctr">
              <a:buNone/>
            </a:pPr>
            <a:r>
              <a:rPr lang="en-US" sz="16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 习近平新时代中国特色社会主义思想概论 · 第十六章</a:t>
            </a:r>
            <a:endParaRPr lang="en-US" sz="1600" dirty="0"/>
          </a:p>
        </p:txBody>
      </p:sp>
      <p:sp>
        <p:nvSpPr>
          <p:cNvPr id="8" name="Text 6"/>
          <p:cNvSpPr/>
          <p:nvPr/>
        </p:nvSpPr>
        <p:spPr>
          <a:xfrm>
            <a:off x="1463040" y="3657600"/>
            <a:ext cx="6217920" cy="320040"/>
          </a:xfrm>
          <a:prstGeom prst="rect">
            <a:avLst/>
          </a:prstGeom>
          <a:noFill/>
        </p:spPr>
        <p:txBody>
          <a:bodyPr wrap="square" lIns="0" tIns="0" rIns="0" bIns="0" rtlCol="0" anchor="ctr"/>
          <a:lstStyle/>
          <a:p>
            <a:pPr marL="0" indent="0" algn="ctr">
              <a:buNone/>
            </a:pPr>
            <a:r>
              <a:rPr lang="en-US" sz="13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习概课程小组汇报     </a:t>
            </a:r>
            <a:r>
              <a:rPr lang="zh-CN" altLang="en-US" sz="13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组员：文博立</a:t>
            </a:r>
            <a:r>
              <a:rPr lang="en-US" altLang="zh-CN" sz="13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3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徐世鸿</a:t>
            </a:r>
            <a:r>
              <a:rPr lang="en-US" altLang="zh-CN" sz="13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3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黄琦竣</a:t>
            </a:r>
            <a:endParaRPr lang="zh-CN" altLang="en-US" sz="13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6"/>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C41E3A"/>
          </a:solidFill>
        </p:spPr>
      </p:sp>
      <p:sp>
        <p:nvSpPr>
          <p:cNvPr id="3" name="Shape 1"/>
          <p:cNvSpPr/>
          <p:nvPr/>
        </p:nvSpPr>
        <p:spPr>
          <a:xfrm>
            <a:off x="0" y="1234440"/>
            <a:ext cx="9144000" cy="36576"/>
          </a:xfrm>
          <a:prstGeom prst="rect">
            <a:avLst/>
          </a:prstGeom>
          <a:solidFill>
            <a:srgbClr val="D4A843"/>
          </a:solidFill>
        </p:spPr>
      </p:sp>
      <p:sp>
        <p:nvSpPr>
          <p:cNvPr id="4" name="Text 2"/>
          <p:cNvSpPr/>
          <p:nvPr/>
        </p:nvSpPr>
        <p:spPr>
          <a:xfrm>
            <a:off x="731520" y="182880"/>
            <a:ext cx="7680960" cy="640080"/>
          </a:xfrm>
          <a:prstGeom prst="rect">
            <a:avLst/>
          </a:prstGeom>
          <a:noFill/>
        </p:spPr>
        <p:txBody>
          <a:bodyPr wrap="square" lIns="0" tIns="0" rIns="0" bIns="0" rtlCol="0" anchor="ctr"/>
          <a:lstStyle/>
          <a:p>
            <a:pPr marL="0" indent="0">
              <a:buNone/>
            </a:pPr>
            <a:r>
              <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新闻引入</a:t>
            </a:r>
            <a:endParaRPr lang="en-US" sz="3000" dirty="0"/>
          </a:p>
        </p:txBody>
      </p:sp>
      <p:sp>
        <p:nvSpPr>
          <p:cNvPr id="5" name="Text 3"/>
          <p:cNvSpPr/>
          <p:nvPr/>
        </p:nvSpPr>
        <p:spPr>
          <a:xfrm>
            <a:off x="731520" y="731520"/>
            <a:ext cx="7680960" cy="365760"/>
          </a:xfrm>
          <a:prstGeom prst="rect">
            <a:avLst/>
          </a:prstGeom>
          <a:noFill/>
        </p:spPr>
        <p:txBody>
          <a:bodyPr wrap="square" lIns="0" tIns="0" rIns="0" bIns="0" rtlCol="0" anchor="ctr"/>
          <a:lstStyle/>
          <a:p>
            <a:pPr marL="0" indent="0">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中孟宣布构建“新时代中孟命运共同体”</a:t>
            </a:r>
            <a:endParaRPr lang="en-US" sz="1400" dirty="0"/>
          </a:p>
        </p:txBody>
      </p:sp>
      <p:sp>
        <p:nvSpPr>
          <p:cNvPr id="6" name="Shape 4"/>
          <p:cNvSpPr/>
          <p:nvPr/>
        </p:nvSpPr>
        <p:spPr>
          <a:xfrm>
            <a:off x="0" y="4892040"/>
            <a:ext cx="9144000" cy="27432"/>
          </a:xfrm>
          <a:prstGeom prst="rect">
            <a:avLst/>
          </a:prstGeom>
          <a:solidFill>
            <a:srgbClr val="C41E3A"/>
          </a:solidFill>
        </p:spPr>
      </p:sp>
      <p:sp>
        <p:nvSpPr>
          <p:cNvPr id="7" name="Shape 5"/>
          <p:cNvSpPr/>
          <p:nvPr/>
        </p:nvSpPr>
        <p:spPr>
          <a:xfrm>
            <a:off x="0" y="4919472"/>
            <a:ext cx="9144000" cy="224028"/>
          </a:xfrm>
          <a:prstGeom prst="rect">
            <a:avLst/>
          </a:prstGeom>
          <a:solidFill>
            <a:srgbClr val="C41E3A"/>
          </a:solidFill>
        </p:spPr>
      </p:sp>
      <p:sp>
        <p:nvSpPr>
          <p:cNvPr id="8" name="Text 6"/>
          <p:cNvSpPr/>
          <p:nvPr/>
        </p:nvSpPr>
        <p:spPr>
          <a:xfrm>
            <a:off x="8046720" y="4919472"/>
            <a:ext cx="914400" cy="224028"/>
          </a:xfrm>
          <a:prstGeom prst="rect">
            <a:avLst/>
          </a:prstGeom>
          <a:noFill/>
        </p:spPr>
        <p:txBody>
          <a:bodyPr wrap="square" lIns="0" tIns="0" rIns="0" bIns="0" rtlCol="0" anchor="ctr"/>
          <a:lstStyle/>
          <a:p>
            <a:pPr marL="0" indent="0" algn="r">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000" dirty="0"/>
          </a:p>
        </p:txBody>
      </p:sp>
      <p:sp>
        <p:nvSpPr>
          <p:cNvPr id="9" name="Text 7"/>
          <p:cNvSpPr/>
          <p:nvPr/>
        </p:nvSpPr>
        <p:spPr>
          <a:xfrm>
            <a:off x="457200" y="4919472"/>
            <a:ext cx="4572000" cy="224028"/>
          </a:xfrm>
          <a:prstGeom prst="rect">
            <a:avLst/>
          </a:prstGeom>
          <a:noFill/>
        </p:spPr>
        <p:txBody>
          <a:bodyPr wrap="square" lIns="0" tIns="0" rIns="0" bIns="0" rtlCol="0" anchor="ctr"/>
          <a:lstStyle/>
          <a:p>
            <a:pPr marL="0" indent="0">
              <a:buNone/>
            </a:pPr>
            <a:r>
              <a:rPr lang="en-US" sz="9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习概第16章 · 中国特色大国外交</a:t>
            </a:r>
            <a:endParaRPr lang="en-US" sz="900" dirty="0"/>
          </a:p>
        </p:txBody>
      </p:sp>
      <p:sp>
        <p:nvSpPr>
          <p:cNvPr id="10" name="Shape 8"/>
          <p:cNvSpPr/>
          <p:nvPr/>
        </p:nvSpPr>
        <p:spPr>
          <a:xfrm>
            <a:off x="548640" y="1554480"/>
            <a:ext cx="3840480" cy="2926080"/>
          </a:xfrm>
          <a:prstGeom prst="rect">
            <a:avLst/>
          </a:prstGeom>
          <a:solidFill>
            <a:srgbClr val="FFFFFF"/>
          </a:solidFill>
          <a:effectLst>
            <a:outerShdw blurRad="50800" dist="25400" dir="8100000" algn="bl" rotWithShape="0">
              <a:srgbClr val="000000">
                <a:alpha val="10000"/>
              </a:srgbClr>
            </a:outerShdw>
          </a:effectLst>
        </p:spPr>
      </p:sp>
      <p:sp>
        <p:nvSpPr>
          <p:cNvPr id="11" name="Shape 9"/>
          <p:cNvSpPr/>
          <p:nvPr/>
        </p:nvSpPr>
        <p:spPr>
          <a:xfrm>
            <a:off x="548640" y="1554480"/>
            <a:ext cx="54864" cy="2926080"/>
          </a:xfrm>
          <a:prstGeom prst="rect">
            <a:avLst/>
          </a:prstGeom>
          <a:solidFill>
            <a:srgbClr val="D4A843"/>
          </a:solidFill>
        </p:spPr>
      </p:sp>
      <p:sp>
        <p:nvSpPr>
          <p:cNvPr id="13" name="Text 11"/>
          <p:cNvSpPr/>
          <p:nvPr/>
        </p:nvSpPr>
        <p:spPr>
          <a:xfrm>
            <a:off x="822960" y="2103120"/>
            <a:ext cx="3291840" cy="2194560"/>
          </a:xfrm>
          <a:prstGeom prst="rect">
            <a:avLst/>
          </a:prstGeom>
          <a:noFill/>
        </p:spPr>
        <p:txBody>
          <a:bodyPr wrap="square" lIns="0" tIns="0" rIns="0" bIns="0" rtlCol="0" anchor="t"/>
          <a:lstStyle/>
          <a:p>
            <a:pPr marL="0" indent="0">
              <a:buNone/>
            </a:pPr>
            <a:r>
              <a:rPr lang="en-US" sz="1400" b="1"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2026年6月26日</a:t>
            </a:r>
            <a:endParaRPr lang="en-US" sz="1400" dirty="0"/>
          </a:p>
          <a:p>
            <a:pPr marL="0" indent="0">
              <a:buNone/>
            </a:pPr>
            <a:endParaRPr lang="en-US" sz="1400" dirty="0"/>
          </a:p>
          <a:p>
            <a:pPr marL="0" indent="0">
              <a:buNone/>
            </a:pPr>
            <a:r>
              <a:rPr lang="en-US" sz="13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国家主席习近平在北京人民大会堂会见来华正式访问的孟加拉国总理塔里克。</a:t>
            </a:r>
            <a:endParaRPr lang="en-US" sz="1400" dirty="0"/>
          </a:p>
          <a:p>
            <a:pPr marL="0" indent="0">
              <a:buNone/>
            </a:pPr>
            <a:endParaRPr lang="en-US" sz="1400" dirty="0"/>
          </a:p>
          <a:p>
            <a:pPr marL="0" indent="0">
              <a:buNone/>
            </a:pPr>
            <a:r>
              <a:rPr lang="en-US" sz="13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两国领导人共同宣布：构建"新时代中孟命运共同体"。</a:t>
            </a:r>
            <a:endParaRPr lang="en-US" sz="1400" dirty="0"/>
          </a:p>
          <a:p>
            <a:pPr marL="0" indent="0">
              <a:buNone/>
            </a:pPr>
            <a:r>
              <a:rPr lang="en-US" sz="1000" i="1"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——来源：新华社</a:t>
            </a:r>
            <a:endParaRPr lang="en-US" sz="1400" dirty="0"/>
          </a:p>
        </p:txBody>
      </p:sp>
      <p:pic>
        <p:nvPicPr>
          <p:cNvPr id="14" name="Image 0" descr="C:/Users/AUSU/Desktop/习近平会见孟加拉国总理塔里克_01.jpg"/>
          <p:cNvPicPr>
            <a:picLocks noChangeAspect="1"/>
          </p:cNvPicPr>
          <p:nvPr/>
        </p:nvPicPr>
        <p:blipFill>
          <a:blip r:embed="rId1"/>
          <a:srcRect/>
          <a:stretch>
            <a:fillRect/>
          </a:stretch>
        </p:blipFill>
        <p:spPr>
          <a:xfrm>
            <a:off x="4800600" y="1554480"/>
            <a:ext cx="3840480" cy="2926080"/>
          </a:xfrm>
          <a:prstGeom prst="rect">
            <a:avLst/>
          </a:prstGeom>
        </p:spPr>
      </p:pic>
      <p:sp>
        <p:nvSpPr>
          <p:cNvPr id="15" name="Shape 12"/>
          <p:cNvSpPr/>
          <p:nvPr/>
        </p:nvSpPr>
        <p:spPr>
          <a:xfrm>
            <a:off x="4800600" y="1554480"/>
            <a:ext cx="3840480" cy="2926080"/>
          </a:xfrm>
          <a:prstGeom prst="rect">
            <a:avLst/>
          </a:prstGeom>
          <a:solidFill>
            <a:srgbClr val="000000">
              <a:alpha val="0"/>
            </a:srgbClr>
          </a:solidFill>
          <a:ln w="25400">
            <a:solidFill>
              <a:srgbClr val="D4A843"/>
            </a:solidFill>
            <a:prstDash val="solid"/>
          </a:ln>
        </p:spPr>
      </p:sp>
      <p:sp>
        <p:nvSpPr>
          <p:cNvPr id="16" name="Text 13"/>
          <p:cNvSpPr/>
          <p:nvPr/>
        </p:nvSpPr>
        <p:spPr>
          <a:xfrm>
            <a:off x="4800600" y="4407408"/>
            <a:ext cx="3840480" cy="182880"/>
          </a:xfrm>
          <a:prstGeom prst="rect">
            <a:avLst/>
          </a:prstGeom>
          <a:noFill/>
        </p:spPr>
        <p:txBody>
          <a:bodyPr wrap="square" lIns="0" tIns="0" rIns="0" bIns="0" rtlCol="0" anchor="ctr"/>
          <a:lstStyle/>
          <a:p>
            <a:pPr marL="0" indent="0" algn="ctr">
              <a:buNone/>
            </a:pPr>
            <a:r>
              <a:rPr lang="en-US" sz="9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新华社记者 李响 摄</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6"/>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C41E3A"/>
          </a:solidFill>
        </p:spPr>
      </p:sp>
      <p:sp>
        <p:nvSpPr>
          <p:cNvPr id="3" name="Shape 1"/>
          <p:cNvSpPr/>
          <p:nvPr/>
        </p:nvSpPr>
        <p:spPr>
          <a:xfrm>
            <a:off x="0" y="1234440"/>
            <a:ext cx="9144000" cy="36576"/>
          </a:xfrm>
          <a:prstGeom prst="rect">
            <a:avLst/>
          </a:prstGeom>
          <a:solidFill>
            <a:srgbClr val="D4A843"/>
          </a:solidFill>
        </p:spPr>
      </p:sp>
      <p:sp>
        <p:nvSpPr>
          <p:cNvPr id="4" name="Text 2"/>
          <p:cNvSpPr/>
          <p:nvPr/>
        </p:nvSpPr>
        <p:spPr>
          <a:xfrm>
            <a:off x="731520" y="182880"/>
            <a:ext cx="7680960" cy="640080"/>
          </a:xfrm>
          <a:prstGeom prst="rect">
            <a:avLst/>
          </a:prstGeom>
          <a:noFill/>
        </p:spPr>
        <p:txBody>
          <a:bodyPr wrap="square" lIns="0" tIns="0" rIns="0" bIns="0" rtlCol="0" anchor="ctr"/>
          <a:lstStyle/>
          <a:p>
            <a:pPr marL="0" indent="0">
              <a:buNone/>
            </a:pPr>
            <a:r>
              <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新闻解读</a:t>
            </a:r>
            <a:endParaRPr lang="en-US" sz="3000" dirty="0"/>
          </a:p>
        </p:txBody>
      </p:sp>
      <p:sp>
        <p:nvSpPr>
          <p:cNvPr id="5" name="Text 3"/>
          <p:cNvSpPr/>
          <p:nvPr/>
        </p:nvSpPr>
        <p:spPr>
          <a:xfrm>
            <a:off x="731520" y="731520"/>
            <a:ext cx="7680960" cy="365760"/>
          </a:xfrm>
          <a:prstGeom prst="rect">
            <a:avLst/>
          </a:prstGeom>
          <a:noFill/>
        </p:spPr>
        <p:txBody>
          <a:bodyPr wrap="square" lIns="0" tIns="0" rIns="0" bIns="0" rtlCol="0" anchor="ctr"/>
          <a:lstStyle/>
          <a:p>
            <a:pPr marL="0" indent="0">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这个事件释放了什么信号？</a:t>
            </a:r>
            <a:endParaRPr lang="en-US" sz="1400" dirty="0"/>
          </a:p>
        </p:txBody>
      </p:sp>
      <p:sp>
        <p:nvSpPr>
          <p:cNvPr id="6" name="Shape 4"/>
          <p:cNvSpPr/>
          <p:nvPr/>
        </p:nvSpPr>
        <p:spPr>
          <a:xfrm>
            <a:off x="0" y="4892040"/>
            <a:ext cx="9144000" cy="27432"/>
          </a:xfrm>
          <a:prstGeom prst="rect">
            <a:avLst/>
          </a:prstGeom>
          <a:solidFill>
            <a:srgbClr val="C41E3A"/>
          </a:solidFill>
        </p:spPr>
      </p:sp>
      <p:sp>
        <p:nvSpPr>
          <p:cNvPr id="7" name="Shape 5"/>
          <p:cNvSpPr/>
          <p:nvPr/>
        </p:nvSpPr>
        <p:spPr>
          <a:xfrm>
            <a:off x="0" y="4919472"/>
            <a:ext cx="9144000" cy="224028"/>
          </a:xfrm>
          <a:prstGeom prst="rect">
            <a:avLst/>
          </a:prstGeom>
          <a:solidFill>
            <a:srgbClr val="C41E3A"/>
          </a:solidFill>
        </p:spPr>
      </p:sp>
      <p:sp>
        <p:nvSpPr>
          <p:cNvPr id="8" name="Text 6"/>
          <p:cNvSpPr/>
          <p:nvPr/>
        </p:nvSpPr>
        <p:spPr>
          <a:xfrm>
            <a:off x="8046720" y="4919472"/>
            <a:ext cx="914400" cy="224028"/>
          </a:xfrm>
          <a:prstGeom prst="rect">
            <a:avLst/>
          </a:prstGeom>
          <a:noFill/>
        </p:spPr>
        <p:txBody>
          <a:bodyPr wrap="square" lIns="0" tIns="0" rIns="0" bIns="0" rtlCol="0" anchor="ctr"/>
          <a:lstStyle/>
          <a:p>
            <a:pPr marL="0" indent="0" algn="r">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000" dirty="0"/>
          </a:p>
        </p:txBody>
      </p:sp>
      <p:sp>
        <p:nvSpPr>
          <p:cNvPr id="9" name="Text 7"/>
          <p:cNvSpPr/>
          <p:nvPr/>
        </p:nvSpPr>
        <p:spPr>
          <a:xfrm>
            <a:off x="457200" y="4919472"/>
            <a:ext cx="4572000" cy="224028"/>
          </a:xfrm>
          <a:prstGeom prst="rect">
            <a:avLst/>
          </a:prstGeom>
          <a:noFill/>
        </p:spPr>
        <p:txBody>
          <a:bodyPr wrap="square" lIns="0" tIns="0" rIns="0" bIns="0" rtlCol="0" anchor="ctr"/>
          <a:lstStyle/>
          <a:p>
            <a:pPr marL="0" indent="0">
              <a:buNone/>
            </a:pPr>
            <a:r>
              <a:rPr lang="en-US" sz="9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习概第16章 · 中国特色大国外交</a:t>
            </a:r>
            <a:endParaRPr lang="en-US" sz="900" dirty="0"/>
          </a:p>
        </p:txBody>
      </p:sp>
      <p:sp>
        <p:nvSpPr>
          <p:cNvPr id="10" name="Shape 8"/>
          <p:cNvSpPr/>
          <p:nvPr/>
        </p:nvSpPr>
        <p:spPr>
          <a:xfrm>
            <a:off x="548640" y="1554480"/>
            <a:ext cx="3840480" cy="1325880"/>
          </a:xfrm>
          <a:prstGeom prst="rect">
            <a:avLst/>
          </a:prstGeom>
          <a:solidFill>
            <a:srgbClr val="FFFFFF"/>
          </a:solidFill>
          <a:effectLst>
            <a:outerShdw blurRad="50800" dist="25400" dir="8100000" algn="bl" rotWithShape="0">
              <a:srgbClr val="000000">
                <a:alpha val="10000"/>
              </a:srgbClr>
            </a:outerShdw>
          </a:effectLst>
        </p:spPr>
      </p:sp>
      <p:sp>
        <p:nvSpPr>
          <p:cNvPr id="11" name="Shape 9"/>
          <p:cNvSpPr/>
          <p:nvPr/>
        </p:nvSpPr>
        <p:spPr>
          <a:xfrm>
            <a:off x="548640" y="1554480"/>
            <a:ext cx="54864" cy="1325880"/>
          </a:xfrm>
          <a:prstGeom prst="rect">
            <a:avLst/>
          </a:prstGeom>
          <a:solidFill>
            <a:srgbClr val="D4A843"/>
          </a:solidFill>
        </p:spPr>
      </p:sp>
      <p:sp>
        <p:nvSpPr>
          <p:cNvPr id="12" name="Shape 10"/>
          <p:cNvSpPr/>
          <p:nvPr/>
        </p:nvSpPr>
        <p:spPr>
          <a:xfrm>
            <a:off x="777240" y="1783080"/>
            <a:ext cx="457200" cy="457200"/>
          </a:xfrm>
          <a:prstGeom prst="ellipse">
            <a:avLst/>
          </a:prstGeom>
          <a:solidFill>
            <a:srgbClr val="C41E3A"/>
          </a:solidFill>
        </p:spPr>
      </p:sp>
      <p:sp>
        <p:nvSpPr>
          <p:cNvPr id="13" name="Text 11"/>
          <p:cNvSpPr/>
          <p:nvPr/>
        </p:nvSpPr>
        <p:spPr>
          <a:xfrm>
            <a:off x="777240" y="178308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600" dirty="0"/>
          </a:p>
        </p:txBody>
      </p:sp>
      <p:sp>
        <p:nvSpPr>
          <p:cNvPr id="14" name="Text 12"/>
          <p:cNvSpPr/>
          <p:nvPr/>
        </p:nvSpPr>
        <p:spPr>
          <a:xfrm>
            <a:off x="1417320" y="1691640"/>
            <a:ext cx="2743200" cy="411480"/>
          </a:xfrm>
          <a:prstGeom prst="rect">
            <a:avLst/>
          </a:prstGeom>
          <a:noFill/>
        </p:spPr>
        <p:txBody>
          <a:bodyPr wrap="square" lIns="0" tIns="0" rIns="0" bIns="0" rtlCol="0" anchor="ctr"/>
          <a:lstStyle/>
          <a:p>
            <a:pPr marL="0" indent="0">
              <a:buNone/>
            </a:pPr>
            <a:r>
              <a:rPr lang="en-US" sz="16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朋友圈持续扩大</a:t>
            </a:r>
            <a:endParaRPr lang="en-US" sz="1600" dirty="0"/>
          </a:p>
        </p:txBody>
      </p:sp>
      <p:sp>
        <p:nvSpPr>
          <p:cNvPr id="15" name="Text 13"/>
          <p:cNvSpPr/>
          <p:nvPr/>
        </p:nvSpPr>
        <p:spPr>
          <a:xfrm>
            <a:off x="1417320" y="2103120"/>
            <a:ext cx="2743200" cy="640080"/>
          </a:xfrm>
          <a:prstGeom prst="rect">
            <a:avLst/>
          </a:prstGeom>
          <a:noFill/>
        </p:spPr>
        <p:txBody>
          <a:bodyPr wrap="square" lIns="0" tIns="0" rIns="0" bIns="0" rtlCol="0" anchor="ctr"/>
          <a:lstStyle/>
          <a:p>
            <a:pPr marL="0" indent="0">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中国外交从大国关系到全球南方齐头并进，南亚成为命运共同体建设的新热点</a:t>
            </a:r>
            <a:endParaRPr lang="en-US" sz="1100" dirty="0"/>
          </a:p>
        </p:txBody>
      </p:sp>
      <p:sp>
        <p:nvSpPr>
          <p:cNvPr id="16" name="Shape 14"/>
          <p:cNvSpPr/>
          <p:nvPr/>
        </p:nvSpPr>
        <p:spPr>
          <a:xfrm>
            <a:off x="4754880" y="1554480"/>
            <a:ext cx="3840480" cy="1325880"/>
          </a:xfrm>
          <a:prstGeom prst="rect">
            <a:avLst/>
          </a:prstGeom>
          <a:solidFill>
            <a:srgbClr val="FFFFFF"/>
          </a:solidFill>
          <a:effectLst>
            <a:outerShdw blurRad="50800" dist="25400" dir="8100000" algn="bl" rotWithShape="0">
              <a:srgbClr val="000000">
                <a:alpha val="10000"/>
              </a:srgbClr>
            </a:outerShdw>
          </a:effectLst>
        </p:spPr>
      </p:sp>
      <p:sp>
        <p:nvSpPr>
          <p:cNvPr id="17" name="Shape 15"/>
          <p:cNvSpPr/>
          <p:nvPr/>
        </p:nvSpPr>
        <p:spPr>
          <a:xfrm>
            <a:off x="4754880" y="1554480"/>
            <a:ext cx="54864" cy="1325880"/>
          </a:xfrm>
          <a:prstGeom prst="rect">
            <a:avLst/>
          </a:prstGeom>
          <a:solidFill>
            <a:srgbClr val="D4A843"/>
          </a:solidFill>
        </p:spPr>
      </p:sp>
      <p:sp>
        <p:nvSpPr>
          <p:cNvPr id="18" name="Shape 16"/>
          <p:cNvSpPr/>
          <p:nvPr/>
        </p:nvSpPr>
        <p:spPr>
          <a:xfrm>
            <a:off x="4983480" y="1783080"/>
            <a:ext cx="457200" cy="457200"/>
          </a:xfrm>
          <a:prstGeom prst="ellipse">
            <a:avLst/>
          </a:prstGeom>
          <a:solidFill>
            <a:srgbClr val="C41E3A"/>
          </a:solidFill>
        </p:spPr>
      </p:sp>
      <p:sp>
        <p:nvSpPr>
          <p:cNvPr id="19" name="Text 17"/>
          <p:cNvSpPr/>
          <p:nvPr/>
        </p:nvSpPr>
        <p:spPr>
          <a:xfrm>
            <a:off x="4983480" y="178308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600" dirty="0"/>
          </a:p>
        </p:txBody>
      </p:sp>
      <p:sp>
        <p:nvSpPr>
          <p:cNvPr id="20" name="Text 18"/>
          <p:cNvSpPr/>
          <p:nvPr/>
        </p:nvSpPr>
        <p:spPr>
          <a:xfrm>
            <a:off x="5623560" y="1691640"/>
            <a:ext cx="2743200" cy="411480"/>
          </a:xfrm>
          <a:prstGeom prst="rect">
            <a:avLst/>
          </a:prstGeom>
          <a:noFill/>
        </p:spPr>
        <p:txBody>
          <a:bodyPr wrap="square" lIns="0" tIns="0" rIns="0" bIns="0" rtlCol="0" anchor="ctr"/>
          <a:lstStyle/>
          <a:p>
            <a:pPr marL="0" indent="0">
              <a:buNone/>
            </a:pPr>
            <a:r>
              <a:rPr lang="en-US" sz="16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合作不断升级</a:t>
            </a:r>
            <a:endParaRPr lang="en-US" sz="1600" dirty="0"/>
          </a:p>
        </p:txBody>
      </p:sp>
      <p:sp>
        <p:nvSpPr>
          <p:cNvPr id="21" name="Text 19"/>
          <p:cNvSpPr/>
          <p:nvPr/>
        </p:nvSpPr>
        <p:spPr>
          <a:xfrm>
            <a:off x="5623560" y="2103120"/>
            <a:ext cx="2743200" cy="640080"/>
          </a:xfrm>
          <a:prstGeom prst="rect">
            <a:avLst/>
          </a:prstGeom>
          <a:noFill/>
        </p:spPr>
        <p:txBody>
          <a:bodyPr wrap="square" lIns="0" tIns="0" rIns="0" bIns="0" rtlCol="0" anchor="ctr"/>
          <a:lstStyle/>
          <a:p>
            <a:pPr marL="0" indent="0">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从"一带一路"经贸合作升级为"命运共同体"，体现合作深度与战略互信的质变</a:t>
            </a:r>
            <a:endParaRPr lang="en-US" sz="1100" dirty="0"/>
          </a:p>
        </p:txBody>
      </p:sp>
      <p:sp>
        <p:nvSpPr>
          <p:cNvPr id="22" name="Shape 20"/>
          <p:cNvSpPr/>
          <p:nvPr/>
        </p:nvSpPr>
        <p:spPr>
          <a:xfrm>
            <a:off x="548640" y="3154680"/>
            <a:ext cx="3840480" cy="1325880"/>
          </a:xfrm>
          <a:prstGeom prst="rect">
            <a:avLst/>
          </a:prstGeom>
          <a:solidFill>
            <a:srgbClr val="FFFFFF"/>
          </a:solidFill>
          <a:effectLst>
            <a:outerShdw blurRad="50800" dist="25400" dir="8100000" algn="bl" rotWithShape="0">
              <a:srgbClr val="000000">
                <a:alpha val="10000"/>
              </a:srgbClr>
            </a:outerShdw>
          </a:effectLst>
        </p:spPr>
      </p:sp>
      <p:sp>
        <p:nvSpPr>
          <p:cNvPr id="23" name="Shape 21"/>
          <p:cNvSpPr/>
          <p:nvPr/>
        </p:nvSpPr>
        <p:spPr>
          <a:xfrm>
            <a:off x="548640" y="3154680"/>
            <a:ext cx="54864" cy="1325880"/>
          </a:xfrm>
          <a:prstGeom prst="rect">
            <a:avLst/>
          </a:prstGeom>
          <a:solidFill>
            <a:srgbClr val="D4A843"/>
          </a:solidFill>
        </p:spPr>
      </p:sp>
      <p:sp>
        <p:nvSpPr>
          <p:cNvPr id="24" name="Shape 22"/>
          <p:cNvSpPr/>
          <p:nvPr/>
        </p:nvSpPr>
        <p:spPr>
          <a:xfrm>
            <a:off x="777240" y="3383280"/>
            <a:ext cx="457200" cy="457200"/>
          </a:xfrm>
          <a:prstGeom prst="ellipse">
            <a:avLst/>
          </a:prstGeom>
          <a:solidFill>
            <a:srgbClr val="C41E3A"/>
          </a:solidFill>
        </p:spPr>
      </p:sp>
      <p:sp>
        <p:nvSpPr>
          <p:cNvPr id="25" name="Text 23"/>
          <p:cNvSpPr/>
          <p:nvPr/>
        </p:nvSpPr>
        <p:spPr>
          <a:xfrm>
            <a:off x="777240" y="338328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600" dirty="0"/>
          </a:p>
        </p:txBody>
      </p:sp>
      <p:sp>
        <p:nvSpPr>
          <p:cNvPr id="26" name="Text 24"/>
          <p:cNvSpPr/>
          <p:nvPr/>
        </p:nvSpPr>
        <p:spPr>
          <a:xfrm>
            <a:off x="1417320" y="3291840"/>
            <a:ext cx="2743200" cy="411480"/>
          </a:xfrm>
          <a:prstGeom prst="rect">
            <a:avLst/>
          </a:prstGeom>
          <a:noFill/>
        </p:spPr>
        <p:txBody>
          <a:bodyPr wrap="square" lIns="0" tIns="0" rIns="0" bIns="0" rtlCol="0" anchor="ctr"/>
          <a:lstStyle/>
          <a:p>
            <a:pPr marL="0" indent="0">
              <a:buNone/>
            </a:pPr>
            <a:r>
              <a:rPr lang="en-US" sz="16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全球南方崛起</a:t>
            </a:r>
            <a:endParaRPr lang="en-US" sz="1600" dirty="0"/>
          </a:p>
        </p:txBody>
      </p:sp>
      <p:sp>
        <p:nvSpPr>
          <p:cNvPr id="27" name="Text 25"/>
          <p:cNvSpPr/>
          <p:nvPr/>
        </p:nvSpPr>
        <p:spPr>
          <a:xfrm>
            <a:off x="1417320" y="3703320"/>
            <a:ext cx="2743200" cy="640080"/>
          </a:xfrm>
          <a:prstGeom prst="rect">
            <a:avLst/>
          </a:prstGeom>
          <a:noFill/>
        </p:spPr>
        <p:txBody>
          <a:bodyPr wrap="square" lIns="0" tIns="0" rIns="0" bIns="0" rtlCol="0" anchor="ctr"/>
          <a:lstStyle/>
          <a:p>
            <a:pPr marL="0" indent="0">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孟加拉国等发展中国家在国际秩序中争取更多话语权，中国坚定站在全球南方一边</a:t>
            </a:r>
            <a:endParaRPr lang="en-US" sz="1100" dirty="0"/>
          </a:p>
        </p:txBody>
      </p:sp>
      <p:sp>
        <p:nvSpPr>
          <p:cNvPr id="28" name="Shape 26"/>
          <p:cNvSpPr/>
          <p:nvPr/>
        </p:nvSpPr>
        <p:spPr>
          <a:xfrm>
            <a:off x="4754880" y="3154680"/>
            <a:ext cx="3840480" cy="1325880"/>
          </a:xfrm>
          <a:prstGeom prst="rect">
            <a:avLst/>
          </a:prstGeom>
          <a:solidFill>
            <a:srgbClr val="FFFFFF"/>
          </a:solidFill>
          <a:effectLst>
            <a:outerShdw blurRad="50800" dist="25400" dir="8100000" algn="bl" rotWithShape="0">
              <a:srgbClr val="000000">
                <a:alpha val="10000"/>
              </a:srgbClr>
            </a:outerShdw>
          </a:effectLst>
        </p:spPr>
      </p:sp>
      <p:sp>
        <p:nvSpPr>
          <p:cNvPr id="29" name="Shape 27"/>
          <p:cNvSpPr/>
          <p:nvPr/>
        </p:nvSpPr>
        <p:spPr>
          <a:xfrm>
            <a:off x="4754880" y="3154680"/>
            <a:ext cx="54864" cy="1325880"/>
          </a:xfrm>
          <a:prstGeom prst="rect">
            <a:avLst/>
          </a:prstGeom>
          <a:solidFill>
            <a:srgbClr val="D4A843"/>
          </a:solidFill>
        </p:spPr>
      </p:sp>
      <p:sp>
        <p:nvSpPr>
          <p:cNvPr id="30" name="Shape 28"/>
          <p:cNvSpPr/>
          <p:nvPr/>
        </p:nvSpPr>
        <p:spPr>
          <a:xfrm>
            <a:off x="4983480" y="3383280"/>
            <a:ext cx="457200" cy="457200"/>
          </a:xfrm>
          <a:prstGeom prst="ellipse">
            <a:avLst/>
          </a:prstGeom>
          <a:solidFill>
            <a:srgbClr val="C41E3A"/>
          </a:solidFill>
        </p:spPr>
      </p:sp>
      <p:sp>
        <p:nvSpPr>
          <p:cNvPr id="31" name="Text 29"/>
          <p:cNvSpPr/>
          <p:nvPr/>
        </p:nvSpPr>
        <p:spPr>
          <a:xfrm>
            <a:off x="4983480" y="338328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600" dirty="0"/>
          </a:p>
        </p:txBody>
      </p:sp>
      <p:sp>
        <p:nvSpPr>
          <p:cNvPr id="32" name="Text 30"/>
          <p:cNvSpPr/>
          <p:nvPr/>
        </p:nvSpPr>
        <p:spPr>
          <a:xfrm>
            <a:off x="5623560" y="3291840"/>
            <a:ext cx="2743200" cy="411480"/>
          </a:xfrm>
          <a:prstGeom prst="rect">
            <a:avLst/>
          </a:prstGeom>
          <a:noFill/>
        </p:spPr>
        <p:txBody>
          <a:bodyPr wrap="square" lIns="0" tIns="0" rIns="0" bIns="0" rtlCol="0" anchor="ctr"/>
          <a:lstStyle/>
          <a:p>
            <a:pPr marL="0" indent="0">
              <a:buNone/>
            </a:pPr>
            <a:r>
              <a:rPr lang="en-US" sz="16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大国担当彰显</a:t>
            </a:r>
            <a:endParaRPr lang="en-US" sz="1600" dirty="0"/>
          </a:p>
        </p:txBody>
      </p:sp>
      <p:sp>
        <p:nvSpPr>
          <p:cNvPr id="33" name="Text 31"/>
          <p:cNvSpPr/>
          <p:nvPr/>
        </p:nvSpPr>
        <p:spPr>
          <a:xfrm>
            <a:off x="5623560" y="3703320"/>
            <a:ext cx="2743200" cy="640080"/>
          </a:xfrm>
          <a:prstGeom prst="rect">
            <a:avLst/>
          </a:prstGeom>
          <a:noFill/>
        </p:spPr>
        <p:txBody>
          <a:bodyPr wrap="square" lIns="0" tIns="0" rIns="0" bIns="0" rtlCol="0" anchor="ctr"/>
          <a:lstStyle/>
          <a:p>
            <a:pPr marL="0" indent="0">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中国以构建人类命运共同体为目标，为世界提供中国方案、贡献中国智慧</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41E3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p:spPr>
      </p:sp>
      <p:sp>
        <p:nvSpPr>
          <p:cNvPr id="3" name="Shape 1"/>
          <p:cNvSpPr/>
          <p:nvPr/>
        </p:nvSpPr>
        <p:spPr>
          <a:xfrm>
            <a:off x="0" y="5088636"/>
            <a:ext cx="9144000" cy="54864"/>
          </a:xfrm>
          <a:prstGeom prst="rect">
            <a:avLst/>
          </a:prstGeom>
          <a:solidFill>
            <a:srgbClr val="D4A843"/>
          </a:solidFill>
        </p:spPr>
      </p:sp>
      <p:sp>
        <p:nvSpPr>
          <p:cNvPr id="4" name="Text 2"/>
          <p:cNvSpPr/>
          <p:nvPr/>
        </p:nvSpPr>
        <p:spPr>
          <a:xfrm>
            <a:off x="731520" y="365760"/>
            <a:ext cx="7680960" cy="640080"/>
          </a:xfrm>
          <a:prstGeom prst="rect">
            <a:avLst/>
          </a:prstGeom>
          <a:noFill/>
        </p:spPr>
        <p:txBody>
          <a:bodyPr wrap="square" lIns="0" tIns="0" rIns="0" bIns="0" rtlCol="0" anchor="ctr"/>
          <a:lstStyle/>
          <a:p>
            <a:pPr marL="0" indent="0" algn="ctr">
              <a:buNone/>
            </a:pPr>
            <a:r>
              <a:rPr lang="en-US" sz="2800" b="1" dirty="0">
                <a:solidFill>
                  <a:srgbClr val="D4A843"/>
                </a:solidFill>
                <a:latin typeface="黑体" panose="02010609060101010101" pitchFamily="34" charset="-122"/>
                <a:ea typeface="黑体" panose="02010609060101010101" pitchFamily="34" charset="-122"/>
                <a:cs typeface="黑体" panose="02010609060101010101" pitchFamily="34" charset="-120"/>
              </a:rPr>
              <a:t>第十六章 · 内容框架</a:t>
            </a:r>
            <a:endParaRPr lang="en-US" sz="2800" dirty="0"/>
          </a:p>
        </p:txBody>
      </p:sp>
      <p:sp>
        <p:nvSpPr>
          <p:cNvPr id="5" name="Shape 3"/>
          <p:cNvSpPr/>
          <p:nvPr/>
        </p:nvSpPr>
        <p:spPr>
          <a:xfrm>
            <a:off x="457200" y="1371600"/>
            <a:ext cx="2606040" cy="3291840"/>
          </a:xfrm>
          <a:prstGeom prst="rect">
            <a:avLst/>
          </a:prstGeom>
          <a:solidFill>
            <a:srgbClr val="8B1A2B"/>
          </a:solidFill>
        </p:spPr>
      </p:sp>
      <p:sp>
        <p:nvSpPr>
          <p:cNvPr id="6" name="Shape 4"/>
          <p:cNvSpPr/>
          <p:nvPr/>
        </p:nvSpPr>
        <p:spPr>
          <a:xfrm>
            <a:off x="530352" y="1444752"/>
            <a:ext cx="2459736" cy="3145536"/>
          </a:xfrm>
          <a:prstGeom prst="rect">
            <a:avLst/>
          </a:prstGeom>
          <a:solidFill>
            <a:srgbClr val="000000">
              <a:alpha val="0"/>
            </a:srgbClr>
          </a:solidFill>
          <a:ln w="12700">
            <a:solidFill>
              <a:srgbClr val="D4A843"/>
            </a:solidFill>
            <a:prstDash val="solid"/>
          </a:ln>
        </p:spPr>
      </p:sp>
      <p:sp>
        <p:nvSpPr>
          <p:cNvPr id="7" name="Text 5"/>
          <p:cNvSpPr/>
          <p:nvPr/>
        </p:nvSpPr>
        <p:spPr>
          <a:xfrm>
            <a:off x="457200" y="1463040"/>
            <a:ext cx="2606040" cy="411480"/>
          </a:xfrm>
          <a:prstGeom prst="rect">
            <a:avLst/>
          </a:prstGeom>
          <a:noFill/>
        </p:spPr>
        <p:txBody>
          <a:bodyPr wrap="square" lIns="0" tIns="0" rIns="0" bIns="0" rtlCol="0" anchor="ctr"/>
          <a:lstStyle/>
          <a:p>
            <a:pPr marL="0" indent="0" algn="ctr">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第一节</a:t>
            </a:r>
            <a:endParaRPr lang="en-US" sz="1400" dirty="0"/>
          </a:p>
        </p:txBody>
      </p:sp>
      <p:sp>
        <p:nvSpPr>
          <p:cNvPr id="8" name="Text 6"/>
          <p:cNvSpPr/>
          <p:nvPr/>
        </p:nvSpPr>
        <p:spPr>
          <a:xfrm>
            <a:off x="685800" y="1920240"/>
            <a:ext cx="2148840" cy="914400"/>
          </a:xfrm>
          <a:prstGeom prst="rect">
            <a:avLst/>
          </a:prstGeom>
          <a:noFill/>
        </p:spPr>
        <p:txBody>
          <a:bodyPr wrap="square" lIns="0" tIns="0" rIns="0" bIns="0" rtlCol="0" anchor="ctr"/>
          <a:lstStyle/>
          <a:p>
            <a:pPr marL="0" indent="0" algn="ctr">
              <a:lnSpc>
                <a:spcPct val="130000"/>
              </a:lnSpc>
              <a:buNone/>
            </a:pPr>
            <a:r>
              <a:rPr lang="en-US" sz="1600" b="1" dirty="0">
                <a:solidFill>
                  <a:srgbClr val="FFFFFF"/>
                </a:solidFill>
                <a:latin typeface="黑体" panose="02010609060101010101" pitchFamily="34" charset="-122"/>
                <a:ea typeface="黑体" panose="02010609060101010101" pitchFamily="34" charset="-122"/>
                <a:cs typeface="黑体" panose="02010609060101010101" pitchFamily="34" charset="-120"/>
              </a:rPr>
              <a:t>新时代中国外交</a:t>
            </a:r>
            <a:endParaRPr lang="en-US" sz="1600" dirty="0"/>
          </a:p>
          <a:p>
            <a:pPr marL="0" indent="0" algn="ctr">
              <a:lnSpc>
                <a:spcPct val="130000"/>
              </a:lnSpc>
              <a:buNone/>
            </a:pPr>
            <a:r>
              <a:rPr lang="en-US" sz="1600" b="1" dirty="0">
                <a:solidFill>
                  <a:srgbClr val="FFFFFF"/>
                </a:solidFill>
                <a:latin typeface="黑体" panose="02010609060101010101" pitchFamily="34" charset="-122"/>
                <a:ea typeface="黑体" panose="02010609060101010101" pitchFamily="34" charset="-122"/>
                <a:cs typeface="黑体" panose="02010609060101010101" pitchFamily="34" charset="-120"/>
              </a:rPr>
              <a:t>在大变局中开创新局</a:t>
            </a:r>
            <a:endParaRPr lang="en-US" sz="1600" dirty="0"/>
          </a:p>
        </p:txBody>
      </p:sp>
      <p:sp>
        <p:nvSpPr>
          <p:cNvPr id="9" name="Shape 7"/>
          <p:cNvSpPr/>
          <p:nvPr/>
        </p:nvSpPr>
        <p:spPr>
          <a:xfrm>
            <a:off x="1005840" y="2880360"/>
            <a:ext cx="1508760" cy="18288"/>
          </a:xfrm>
          <a:prstGeom prst="rect">
            <a:avLst/>
          </a:prstGeom>
          <a:solidFill>
            <a:srgbClr val="D4A843"/>
          </a:solidFill>
        </p:spPr>
      </p:sp>
      <p:sp>
        <p:nvSpPr>
          <p:cNvPr id="10" name="Text 8"/>
          <p:cNvSpPr/>
          <p:nvPr/>
        </p:nvSpPr>
        <p:spPr>
          <a:xfrm>
            <a:off x="685800" y="3017520"/>
            <a:ext cx="2148840" cy="1463040"/>
          </a:xfrm>
          <a:prstGeom prst="rect">
            <a:avLst/>
          </a:prstGeom>
          <a:noFill/>
        </p:spPr>
        <p:txBody>
          <a:bodyPr wrap="square" lIns="0" tIns="0" rIns="0" bIns="0" rtlCol="0" anchor="ctr"/>
          <a:lstStyle/>
          <a:p>
            <a:pPr marL="0" indent="0" algn="ctr">
              <a:lnSpc>
                <a:spcPct val="150000"/>
              </a:lnSpc>
              <a:buNone/>
            </a:pPr>
            <a:r>
              <a:rPr lang="en-US" sz="12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百年未有之大变局</a:t>
            </a:r>
            <a:endParaRPr lang="en-US" sz="1200" dirty="0"/>
          </a:p>
          <a:p>
            <a:pPr marL="0" indent="0" algn="ctr">
              <a:lnSpc>
                <a:spcPct val="150000"/>
              </a:lnSpc>
              <a:buNone/>
            </a:pPr>
            <a:r>
              <a:rPr lang="en-US" sz="12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中国特色大国外交</a:t>
            </a:r>
            <a:endParaRPr lang="en-US" sz="1200" dirty="0"/>
          </a:p>
          <a:p>
            <a:pPr marL="0" indent="0" algn="ctr">
              <a:lnSpc>
                <a:spcPct val="150000"/>
              </a:lnSpc>
              <a:buNone/>
            </a:pPr>
            <a:r>
              <a:rPr lang="en-US" sz="12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国际影响力显著提升</a:t>
            </a:r>
            <a:endParaRPr lang="en-US" sz="1200" dirty="0"/>
          </a:p>
        </p:txBody>
      </p:sp>
      <p:sp>
        <p:nvSpPr>
          <p:cNvPr id="11" name="Shape 9"/>
          <p:cNvSpPr/>
          <p:nvPr/>
        </p:nvSpPr>
        <p:spPr>
          <a:xfrm>
            <a:off x="3337560" y="1371600"/>
            <a:ext cx="2606040" cy="3291840"/>
          </a:xfrm>
          <a:prstGeom prst="rect">
            <a:avLst/>
          </a:prstGeom>
          <a:solidFill>
            <a:srgbClr val="8B1A2B"/>
          </a:solidFill>
        </p:spPr>
      </p:sp>
      <p:sp>
        <p:nvSpPr>
          <p:cNvPr id="12" name="Shape 10"/>
          <p:cNvSpPr/>
          <p:nvPr/>
        </p:nvSpPr>
        <p:spPr>
          <a:xfrm>
            <a:off x="3410712" y="1444752"/>
            <a:ext cx="2459736" cy="3145536"/>
          </a:xfrm>
          <a:prstGeom prst="rect">
            <a:avLst/>
          </a:prstGeom>
          <a:solidFill>
            <a:srgbClr val="000000">
              <a:alpha val="0"/>
            </a:srgbClr>
          </a:solidFill>
          <a:ln w="12700">
            <a:solidFill>
              <a:srgbClr val="D4A843"/>
            </a:solidFill>
            <a:prstDash val="solid"/>
          </a:ln>
        </p:spPr>
      </p:sp>
      <p:sp>
        <p:nvSpPr>
          <p:cNvPr id="13" name="Text 11"/>
          <p:cNvSpPr/>
          <p:nvPr/>
        </p:nvSpPr>
        <p:spPr>
          <a:xfrm>
            <a:off x="3337560" y="1463040"/>
            <a:ext cx="2606040" cy="411480"/>
          </a:xfrm>
          <a:prstGeom prst="rect">
            <a:avLst/>
          </a:prstGeom>
          <a:noFill/>
        </p:spPr>
        <p:txBody>
          <a:bodyPr wrap="square" lIns="0" tIns="0" rIns="0" bIns="0" rtlCol="0" anchor="ctr"/>
          <a:lstStyle/>
          <a:p>
            <a:pPr marL="0" indent="0" algn="ctr">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第二节</a:t>
            </a:r>
            <a:endParaRPr lang="en-US" sz="1400" dirty="0"/>
          </a:p>
        </p:txBody>
      </p:sp>
      <p:sp>
        <p:nvSpPr>
          <p:cNvPr id="14" name="Text 12"/>
          <p:cNvSpPr/>
          <p:nvPr/>
        </p:nvSpPr>
        <p:spPr>
          <a:xfrm>
            <a:off x="3566160" y="1920240"/>
            <a:ext cx="2148840" cy="914400"/>
          </a:xfrm>
          <a:prstGeom prst="rect">
            <a:avLst/>
          </a:prstGeom>
          <a:noFill/>
        </p:spPr>
        <p:txBody>
          <a:bodyPr wrap="square" lIns="0" tIns="0" rIns="0" bIns="0" rtlCol="0" anchor="ctr"/>
          <a:lstStyle/>
          <a:p>
            <a:pPr marL="0" indent="0" algn="ctr">
              <a:lnSpc>
                <a:spcPct val="130000"/>
              </a:lnSpc>
              <a:buNone/>
            </a:pPr>
            <a:r>
              <a:rPr lang="en-US" sz="1600" b="1" dirty="0">
                <a:solidFill>
                  <a:srgbClr val="FFFFFF"/>
                </a:solidFill>
                <a:latin typeface="黑体" panose="02010609060101010101" pitchFamily="34" charset="-122"/>
                <a:ea typeface="黑体" panose="02010609060101010101" pitchFamily="34" charset="-122"/>
                <a:cs typeface="黑体" panose="02010609060101010101" pitchFamily="34" charset="-120"/>
              </a:rPr>
              <a:t>全面推进</a:t>
            </a:r>
            <a:endParaRPr lang="en-US" sz="1600" dirty="0"/>
          </a:p>
          <a:p>
            <a:pPr marL="0" indent="0" algn="ctr">
              <a:lnSpc>
                <a:spcPct val="130000"/>
              </a:lnSpc>
              <a:buNone/>
            </a:pPr>
            <a:r>
              <a:rPr lang="en-US" sz="1600" b="1" dirty="0">
                <a:solidFill>
                  <a:srgbClr val="FFFFFF"/>
                </a:solidFill>
                <a:latin typeface="黑体" panose="02010609060101010101" pitchFamily="34" charset="-122"/>
                <a:ea typeface="黑体" panose="02010609060101010101" pitchFamily="34" charset="-122"/>
                <a:cs typeface="黑体" panose="02010609060101010101" pitchFamily="34" charset="-120"/>
              </a:rPr>
              <a:t>中国特色大国外交</a:t>
            </a:r>
            <a:endParaRPr lang="en-US" sz="1600" dirty="0"/>
          </a:p>
        </p:txBody>
      </p:sp>
      <p:sp>
        <p:nvSpPr>
          <p:cNvPr id="15" name="Shape 13"/>
          <p:cNvSpPr/>
          <p:nvPr/>
        </p:nvSpPr>
        <p:spPr>
          <a:xfrm>
            <a:off x="3886200" y="2880360"/>
            <a:ext cx="1508760" cy="18288"/>
          </a:xfrm>
          <a:prstGeom prst="rect">
            <a:avLst/>
          </a:prstGeom>
          <a:solidFill>
            <a:srgbClr val="D4A843"/>
          </a:solidFill>
        </p:spPr>
      </p:sp>
      <p:sp>
        <p:nvSpPr>
          <p:cNvPr id="16" name="Text 14"/>
          <p:cNvSpPr/>
          <p:nvPr/>
        </p:nvSpPr>
        <p:spPr>
          <a:xfrm>
            <a:off x="3566160" y="3017520"/>
            <a:ext cx="2148840" cy="1463040"/>
          </a:xfrm>
          <a:prstGeom prst="rect">
            <a:avLst/>
          </a:prstGeom>
          <a:noFill/>
        </p:spPr>
        <p:txBody>
          <a:bodyPr wrap="square" lIns="0" tIns="0" rIns="0" bIns="0" rtlCol="0" anchor="ctr"/>
          <a:lstStyle/>
          <a:p>
            <a:pPr marL="0" indent="0" algn="ctr">
              <a:lnSpc>
                <a:spcPct val="150000"/>
              </a:lnSpc>
              <a:buNone/>
            </a:pPr>
            <a:r>
              <a:rPr lang="en-US" sz="12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和平发展道路</a:t>
            </a:r>
            <a:endParaRPr lang="en-US" sz="1200" dirty="0"/>
          </a:p>
          <a:p>
            <a:pPr marL="0" indent="0" algn="ctr">
              <a:lnSpc>
                <a:spcPct val="150000"/>
              </a:lnSpc>
              <a:buNone/>
            </a:pPr>
            <a:r>
              <a:rPr lang="en-US" sz="12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新型国际关系</a:t>
            </a:r>
            <a:endParaRPr lang="en-US" sz="1200" dirty="0"/>
          </a:p>
          <a:p>
            <a:pPr marL="0" indent="0" algn="ctr">
              <a:lnSpc>
                <a:spcPct val="150000"/>
              </a:lnSpc>
              <a:buNone/>
            </a:pPr>
            <a:r>
              <a:rPr lang="en-US" sz="12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维护国家利益 · 外交为民</a:t>
            </a:r>
            <a:endParaRPr lang="en-US" sz="1200" dirty="0"/>
          </a:p>
        </p:txBody>
      </p:sp>
      <p:sp>
        <p:nvSpPr>
          <p:cNvPr id="17" name="Shape 15"/>
          <p:cNvSpPr/>
          <p:nvPr/>
        </p:nvSpPr>
        <p:spPr>
          <a:xfrm>
            <a:off x="6217920" y="1371600"/>
            <a:ext cx="2606040" cy="3291840"/>
          </a:xfrm>
          <a:prstGeom prst="rect">
            <a:avLst/>
          </a:prstGeom>
          <a:solidFill>
            <a:srgbClr val="8B1A2B"/>
          </a:solidFill>
        </p:spPr>
      </p:sp>
      <p:sp>
        <p:nvSpPr>
          <p:cNvPr id="18" name="Shape 16"/>
          <p:cNvSpPr/>
          <p:nvPr/>
        </p:nvSpPr>
        <p:spPr>
          <a:xfrm>
            <a:off x="6291072" y="1444752"/>
            <a:ext cx="2459736" cy="3145536"/>
          </a:xfrm>
          <a:prstGeom prst="rect">
            <a:avLst/>
          </a:prstGeom>
          <a:solidFill>
            <a:srgbClr val="000000">
              <a:alpha val="0"/>
            </a:srgbClr>
          </a:solidFill>
          <a:ln w="12700">
            <a:solidFill>
              <a:srgbClr val="D4A843"/>
            </a:solidFill>
            <a:prstDash val="solid"/>
          </a:ln>
        </p:spPr>
      </p:sp>
      <p:sp>
        <p:nvSpPr>
          <p:cNvPr id="19" name="Text 17"/>
          <p:cNvSpPr/>
          <p:nvPr/>
        </p:nvSpPr>
        <p:spPr>
          <a:xfrm>
            <a:off x="6217920" y="1463040"/>
            <a:ext cx="2606040" cy="411480"/>
          </a:xfrm>
          <a:prstGeom prst="rect">
            <a:avLst/>
          </a:prstGeom>
          <a:noFill/>
        </p:spPr>
        <p:txBody>
          <a:bodyPr wrap="square" lIns="0" tIns="0" rIns="0" bIns="0" rtlCol="0" anchor="ctr"/>
          <a:lstStyle/>
          <a:p>
            <a:pPr marL="0" indent="0" algn="ctr">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第三节</a:t>
            </a:r>
            <a:endParaRPr lang="en-US" sz="1400" dirty="0"/>
          </a:p>
        </p:txBody>
      </p:sp>
      <p:sp>
        <p:nvSpPr>
          <p:cNvPr id="20" name="Text 18"/>
          <p:cNvSpPr/>
          <p:nvPr/>
        </p:nvSpPr>
        <p:spPr>
          <a:xfrm>
            <a:off x="6446520" y="1920240"/>
            <a:ext cx="2148840" cy="914400"/>
          </a:xfrm>
          <a:prstGeom prst="rect">
            <a:avLst/>
          </a:prstGeom>
          <a:noFill/>
        </p:spPr>
        <p:txBody>
          <a:bodyPr wrap="square" lIns="0" tIns="0" rIns="0" bIns="0" rtlCol="0" anchor="ctr"/>
          <a:lstStyle/>
          <a:p>
            <a:pPr marL="0" indent="0" algn="ctr">
              <a:lnSpc>
                <a:spcPct val="130000"/>
              </a:lnSpc>
              <a:buNone/>
            </a:pPr>
            <a:r>
              <a:rPr lang="en-US" sz="1600" b="1" dirty="0">
                <a:solidFill>
                  <a:srgbClr val="FFFFFF"/>
                </a:solidFill>
                <a:latin typeface="黑体" panose="02010609060101010101" pitchFamily="34" charset="-122"/>
                <a:ea typeface="黑体" panose="02010609060101010101" pitchFamily="34" charset="-122"/>
                <a:cs typeface="黑体" panose="02010609060101010101" pitchFamily="34" charset="-120"/>
              </a:rPr>
              <a:t>推动构建</a:t>
            </a:r>
            <a:endParaRPr lang="en-US" sz="1600" dirty="0"/>
          </a:p>
          <a:p>
            <a:pPr marL="0" indent="0" algn="ctr">
              <a:lnSpc>
                <a:spcPct val="130000"/>
              </a:lnSpc>
              <a:buNone/>
            </a:pPr>
            <a:r>
              <a:rPr lang="en-US" sz="1600" b="1" dirty="0">
                <a:solidFill>
                  <a:srgbClr val="FFFFFF"/>
                </a:solidFill>
                <a:latin typeface="黑体" panose="02010609060101010101" pitchFamily="34" charset="-122"/>
                <a:ea typeface="黑体" panose="02010609060101010101" pitchFamily="34" charset="-122"/>
                <a:cs typeface="黑体" panose="02010609060101010101" pitchFamily="34" charset="-120"/>
              </a:rPr>
              <a:t>人类命运共同体</a:t>
            </a:r>
            <a:endParaRPr lang="en-US" sz="1600" dirty="0"/>
          </a:p>
        </p:txBody>
      </p:sp>
      <p:sp>
        <p:nvSpPr>
          <p:cNvPr id="21" name="Shape 19"/>
          <p:cNvSpPr/>
          <p:nvPr/>
        </p:nvSpPr>
        <p:spPr>
          <a:xfrm>
            <a:off x="6766560" y="2880360"/>
            <a:ext cx="1508760" cy="18288"/>
          </a:xfrm>
          <a:prstGeom prst="rect">
            <a:avLst/>
          </a:prstGeom>
          <a:solidFill>
            <a:srgbClr val="D4A843"/>
          </a:solidFill>
        </p:spPr>
      </p:sp>
      <p:sp>
        <p:nvSpPr>
          <p:cNvPr id="22" name="Text 20"/>
          <p:cNvSpPr/>
          <p:nvPr/>
        </p:nvSpPr>
        <p:spPr>
          <a:xfrm>
            <a:off x="6446520" y="3017520"/>
            <a:ext cx="2148840" cy="1463040"/>
          </a:xfrm>
          <a:prstGeom prst="rect">
            <a:avLst/>
          </a:prstGeom>
          <a:noFill/>
        </p:spPr>
        <p:txBody>
          <a:bodyPr wrap="square" lIns="0" tIns="0" rIns="0" bIns="0" rtlCol="0" anchor="ctr"/>
          <a:lstStyle/>
          <a:p>
            <a:pPr marL="0" indent="0" algn="ctr">
              <a:lnSpc>
                <a:spcPct val="150000"/>
              </a:lnSpc>
              <a:buNone/>
            </a:pPr>
            <a:r>
              <a:rPr lang="en-US" sz="12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人类命运共同体内涵</a:t>
            </a:r>
            <a:endParaRPr lang="en-US" sz="1200" dirty="0"/>
          </a:p>
          <a:p>
            <a:pPr marL="0" indent="0" algn="ctr">
              <a:lnSpc>
                <a:spcPct val="150000"/>
              </a:lnSpc>
              <a:buNone/>
            </a:pPr>
            <a:r>
              <a:rPr lang="en-US" sz="12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全球治理体系改革</a:t>
            </a:r>
            <a:endParaRPr lang="en-US" sz="1200" dirty="0"/>
          </a:p>
          <a:p>
            <a:pPr marL="0" indent="0" algn="ctr">
              <a:lnSpc>
                <a:spcPct val="150000"/>
              </a:lnSpc>
              <a:buNone/>
            </a:pPr>
            <a:r>
              <a:rPr lang="en-US" sz="12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高质量共建一带一路</a:t>
            </a:r>
            <a:endParaRPr lang="en-US" sz="1200" dirty="0"/>
          </a:p>
        </p:txBody>
      </p:sp>
      <p:sp>
        <p:nvSpPr>
          <p:cNvPr id="23" name="Text 21"/>
          <p:cNvSpPr/>
          <p:nvPr/>
        </p:nvSpPr>
        <p:spPr>
          <a:xfrm>
            <a:off x="731520" y="4800600"/>
            <a:ext cx="7680960" cy="274320"/>
          </a:xfrm>
          <a:prstGeom prst="rect">
            <a:avLst/>
          </a:prstGeom>
          <a:noFill/>
        </p:spPr>
        <p:txBody>
          <a:bodyPr wrap="square" lIns="0" tIns="0" rIns="0" bIns="0" rtlCol="0" anchor="ctr"/>
          <a:lstStyle/>
          <a:p>
            <a:pPr marL="0" indent="0" algn="ctr">
              <a:buNone/>
            </a:pPr>
            <a:r>
              <a:rPr lang="en-US" sz="1100" i="1" dirty="0">
                <a:solidFill>
                  <a:srgbClr val="FFF3D4"/>
                </a:solidFill>
                <a:latin typeface="微软雅黑" panose="020B0503020204020204" pitchFamily="34" charset="-122"/>
                <a:ea typeface="微软雅黑" panose="020B0503020204020204" pitchFamily="34" charset="-122"/>
                <a:cs typeface="微软雅黑" panose="020B0503020204020204" pitchFamily="34" charset="-120"/>
              </a:rPr>
              <a:t>核心问题：中国需要什么样的外交？中国能为世界做什么？</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6"/>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C41E3A"/>
          </a:solidFill>
        </p:spPr>
      </p:sp>
      <p:sp>
        <p:nvSpPr>
          <p:cNvPr id="3" name="Shape 1"/>
          <p:cNvSpPr/>
          <p:nvPr/>
        </p:nvSpPr>
        <p:spPr>
          <a:xfrm>
            <a:off x="0" y="1234440"/>
            <a:ext cx="9144000" cy="36576"/>
          </a:xfrm>
          <a:prstGeom prst="rect">
            <a:avLst/>
          </a:prstGeom>
          <a:solidFill>
            <a:srgbClr val="D4A843"/>
          </a:solidFill>
        </p:spPr>
      </p:sp>
      <p:sp>
        <p:nvSpPr>
          <p:cNvPr id="4" name="Text 2"/>
          <p:cNvSpPr/>
          <p:nvPr/>
        </p:nvSpPr>
        <p:spPr>
          <a:xfrm>
            <a:off x="731520" y="182880"/>
            <a:ext cx="7680960" cy="640080"/>
          </a:xfrm>
          <a:prstGeom prst="rect">
            <a:avLst/>
          </a:prstGeom>
          <a:noFill/>
        </p:spPr>
        <p:txBody>
          <a:bodyPr wrap="square" lIns="0" tIns="0" rIns="0" bIns="0" rtlCol="0" anchor="ctr"/>
          <a:lstStyle/>
          <a:p>
            <a:pPr marL="0" indent="0">
              <a:buNone/>
            </a:pPr>
            <a:r>
              <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第一节 · 新时代中国外交在大变局中开创新局</a:t>
            </a:r>
            <a:endParaRPr lang="en-US" sz="3000" dirty="0"/>
          </a:p>
        </p:txBody>
      </p:sp>
      <p:sp>
        <p:nvSpPr>
          <p:cNvPr id="5" name="Text 3"/>
          <p:cNvSpPr/>
          <p:nvPr/>
        </p:nvSpPr>
        <p:spPr>
          <a:xfrm>
            <a:off x="731520" y="731520"/>
            <a:ext cx="7680960" cy="365760"/>
          </a:xfrm>
          <a:prstGeom prst="rect">
            <a:avLst/>
          </a:prstGeom>
          <a:noFill/>
        </p:spPr>
        <p:txBody>
          <a:bodyPr wrap="square" lIns="0" tIns="0" rIns="0" bIns="0" rtlCol="0" anchor="ctr"/>
          <a:lstStyle/>
          <a:p>
            <a:pPr marL="0" indent="0">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当今世界正经历百年未有之大变局</a:t>
            </a:r>
            <a:endParaRPr lang="en-US" sz="1400" dirty="0"/>
          </a:p>
        </p:txBody>
      </p:sp>
      <p:sp>
        <p:nvSpPr>
          <p:cNvPr id="6" name="Shape 4"/>
          <p:cNvSpPr/>
          <p:nvPr/>
        </p:nvSpPr>
        <p:spPr>
          <a:xfrm>
            <a:off x="0" y="4892040"/>
            <a:ext cx="9144000" cy="27432"/>
          </a:xfrm>
          <a:prstGeom prst="rect">
            <a:avLst/>
          </a:prstGeom>
          <a:solidFill>
            <a:srgbClr val="C41E3A"/>
          </a:solidFill>
        </p:spPr>
      </p:sp>
      <p:sp>
        <p:nvSpPr>
          <p:cNvPr id="7" name="Shape 5"/>
          <p:cNvSpPr/>
          <p:nvPr/>
        </p:nvSpPr>
        <p:spPr>
          <a:xfrm>
            <a:off x="0" y="4919472"/>
            <a:ext cx="9144000" cy="224028"/>
          </a:xfrm>
          <a:prstGeom prst="rect">
            <a:avLst/>
          </a:prstGeom>
          <a:solidFill>
            <a:srgbClr val="C41E3A"/>
          </a:solidFill>
        </p:spPr>
      </p:sp>
      <p:sp>
        <p:nvSpPr>
          <p:cNvPr id="8" name="Text 6"/>
          <p:cNvSpPr/>
          <p:nvPr/>
        </p:nvSpPr>
        <p:spPr>
          <a:xfrm>
            <a:off x="8046720" y="4919472"/>
            <a:ext cx="914400" cy="224028"/>
          </a:xfrm>
          <a:prstGeom prst="rect">
            <a:avLst/>
          </a:prstGeom>
          <a:noFill/>
        </p:spPr>
        <p:txBody>
          <a:bodyPr wrap="square" lIns="0" tIns="0" rIns="0" bIns="0" rtlCol="0" anchor="ctr"/>
          <a:lstStyle/>
          <a:p>
            <a:pPr marL="0" indent="0" algn="r">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5</a:t>
            </a:r>
            <a:endParaRPr lang="en-US" sz="1000" dirty="0"/>
          </a:p>
        </p:txBody>
      </p:sp>
      <p:sp>
        <p:nvSpPr>
          <p:cNvPr id="9" name="Text 7"/>
          <p:cNvSpPr/>
          <p:nvPr/>
        </p:nvSpPr>
        <p:spPr>
          <a:xfrm>
            <a:off x="457200" y="4919472"/>
            <a:ext cx="4572000" cy="224028"/>
          </a:xfrm>
          <a:prstGeom prst="rect">
            <a:avLst/>
          </a:prstGeom>
          <a:noFill/>
        </p:spPr>
        <p:txBody>
          <a:bodyPr wrap="square" lIns="0" tIns="0" rIns="0" bIns="0" rtlCol="0" anchor="ctr"/>
          <a:lstStyle/>
          <a:p>
            <a:pPr marL="0" indent="0">
              <a:buNone/>
            </a:pPr>
            <a:r>
              <a:rPr lang="en-US" sz="9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习概第16章 · 中国特色大国外交</a:t>
            </a:r>
            <a:endParaRPr lang="en-US" sz="900" dirty="0"/>
          </a:p>
        </p:txBody>
      </p:sp>
      <p:sp>
        <p:nvSpPr>
          <p:cNvPr id="10" name="Shape 8"/>
          <p:cNvSpPr/>
          <p:nvPr/>
        </p:nvSpPr>
        <p:spPr>
          <a:xfrm>
            <a:off x="457200" y="1554480"/>
            <a:ext cx="2606040" cy="2148840"/>
          </a:xfrm>
          <a:prstGeom prst="rect">
            <a:avLst/>
          </a:prstGeom>
          <a:solidFill>
            <a:srgbClr val="FFFFFF"/>
          </a:solidFill>
          <a:effectLst>
            <a:outerShdw blurRad="50800" dist="25400" dir="8100000" algn="bl" rotWithShape="0">
              <a:srgbClr val="000000">
                <a:alpha val="10000"/>
              </a:srgbClr>
            </a:outerShdw>
          </a:effectLst>
        </p:spPr>
      </p:sp>
      <p:sp>
        <p:nvSpPr>
          <p:cNvPr id="11" name="Shape 9"/>
          <p:cNvSpPr/>
          <p:nvPr/>
        </p:nvSpPr>
        <p:spPr>
          <a:xfrm>
            <a:off x="457200" y="1554480"/>
            <a:ext cx="54864" cy="2148840"/>
          </a:xfrm>
          <a:prstGeom prst="rect">
            <a:avLst/>
          </a:prstGeom>
          <a:solidFill>
            <a:srgbClr val="D4A843"/>
          </a:solidFill>
        </p:spPr>
      </p:sp>
      <p:sp>
        <p:nvSpPr>
          <p:cNvPr id="12" name="Text 10"/>
          <p:cNvSpPr/>
          <p:nvPr/>
        </p:nvSpPr>
        <p:spPr>
          <a:xfrm>
            <a:off x="457200" y="1645920"/>
            <a:ext cx="2606040" cy="411480"/>
          </a:xfrm>
          <a:prstGeom prst="rect">
            <a:avLst/>
          </a:prstGeom>
          <a:noFill/>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731520" y="2057400"/>
            <a:ext cx="2057400" cy="365760"/>
          </a:xfrm>
          <a:prstGeom prst="rect">
            <a:avLst/>
          </a:prstGeom>
          <a:noFill/>
        </p:spPr>
        <p:txBody>
          <a:bodyPr wrap="square" lIns="0" tIns="0" rIns="0" bIns="0" rtlCol="0" anchor="ctr"/>
          <a:lstStyle/>
          <a:p>
            <a:pPr marL="0" indent="0" algn="ctr">
              <a:buNone/>
            </a:pPr>
            <a:r>
              <a:rPr lang="en-US" sz="1500" b="1" dirty="0">
                <a:solidFill>
                  <a:srgbClr val="C41E3A"/>
                </a:solidFill>
                <a:latin typeface="黑体" panose="02010609060101010101" pitchFamily="34" charset="-122"/>
                <a:ea typeface="黑体" panose="02010609060101010101" pitchFamily="34" charset="-122"/>
                <a:cs typeface="黑体" panose="02010609060101010101" pitchFamily="34" charset="-120"/>
              </a:rPr>
              <a:t>百年未有之大变局</a:t>
            </a:r>
            <a:endParaRPr lang="en-US" sz="1500" dirty="0"/>
          </a:p>
        </p:txBody>
      </p:sp>
      <p:sp>
        <p:nvSpPr>
          <p:cNvPr id="14" name="Shape 12"/>
          <p:cNvSpPr/>
          <p:nvPr/>
        </p:nvSpPr>
        <p:spPr>
          <a:xfrm>
            <a:off x="1188720" y="2423160"/>
            <a:ext cx="1143000" cy="18288"/>
          </a:xfrm>
          <a:prstGeom prst="rect">
            <a:avLst/>
          </a:prstGeom>
          <a:solidFill>
            <a:srgbClr val="D4A843"/>
          </a:solidFill>
        </p:spPr>
      </p:sp>
      <p:sp>
        <p:nvSpPr>
          <p:cNvPr id="15" name="Text 13"/>
          <p:cNvSpPr/>
          <p:nvPr/>
        </p:nvSpPr>
        <p:spPr>
          <a:xfrm>
            <a:off x="731520" y="2514600"/>
            <a:ext cx="2057400" cy="1051560"/>
          </a:xfrm>
          <a:prstGeom prst="rect">
            <a:avLst/>
          </a:prstGeom>
          <a:noFill/>
        </p:spPr>
        <p:txBody>
          <a:bodyPr wrap="square" lIns="0" tIns="0" rIns="0" bIns="0" rtlCol="0" anchor="t"/>
          <a:lstStyle/>
          <a:p>
            <a:pPr marL="0" indent="0">
              <a:lnSpc>
                <a:spcPct val="140000"/>
              </a:lnSpc>
              <a:buNone/>
            </a:pPr>
            <a:r>
              <a:rPr lang="en-US" sz="105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国际力量对比深刻调整，新兴市场国家和发展中国家群体性崛起。全球治理体系面临深刻变革，和平与发展仍是时代主题。</a:t>
            </a:r>
            <a:endParaRPr lang="en-US" sz="1050" dirty="0"/>
          </a:p>
        </p:txBody>
      </p:sp>
      <p:sp>
        <p:nvSpPr>
          <p:cNvPr id="16" name="Shape 14"/>
          <p:cNvSpPr/>
          <p:nvPr/>
        </p:nvSpPr>
        <p:spPr>
          <a:xfrm>
            <a:off x="3337560" y="1554480"/>
            <a:ext cx="2606040" cy="2148840"/>
          </a:xfrm>
          <a:prstGeom prst="rect">
            <a:avLst/>
          </a:prstGeom>
          <a:solidFill>
            <a:srgbClr val="FFFFFF"/>
          </a:solidFill>
          <a:effectLst>
            <a:outerShdw blurRad="50800" dist="25400" dir="8100000" algn="bl" rotWithShape="0">
              <a:srgbClr val="000000">
                <a:alpha val="10000"/>
              </a:srgbClr>
            </a:outerShdw>
          </a:effectLst>
        </p:spPr>
      </p:sp>
      <p:sp>
        <p:nvSpPr>
          <p:cNvPr id="17" name="Shape 15"/>
          <p:cNvSpPr/>
          <p:nvPr/>
        </p:nvSpPr>
        <p:spPr>
          <a:xfrm>
            <a:off x="3337560" y="1554480"/>
            <a:ext cx="54864" cy="2148840"/>
          </a:xfrm>
          <a:prstGeom prst="rect">
            <a:avLst/>
          </a:prstGeom>
          <a:solidFill>
            <a:srgbClr val="D4A843"/>
          </a:solidFill>
        </p:spPr>
      </p:sp>
      <p:sp>
        <p:nvSpPr>
          <p:cNvPr id="18" name="Text 16"/>
          <p:cNvSpPr/>
          <p:nvPr/>
        </p:nvSpPr>
        <p:spPr>
          <a:xfrm>
            <a:off x="3337560" y="1645920"/>
            <a:ext cx="2606040" cy="411480"/>
          </a:xfrm>
          <a:prstGeom prst="rect">
            <a:avLst/>
          </a:prstGeom>
          <a:noFill/>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9" name="Text 17"/>
          <p:cNvSpPr/>
          <p:nvPr/>
        </p:nvSpPr>
        <p:spPr>
          <a:xfrm>
            <a:off x="3611880" y="2057400"/>
            <a:ext cx="2057400" cy="365760"/>
          </a:xfrm>
          <a:prstGeom prst="rect">
            <a:avLst/>
          </a:prstGeom>
          <a:noFill/>
        </p:spPr>
        <p:txBody>
          <a:bodyPr wrap="square" lIns="0" tIns="0" rIns="0" bIns="0" rtlCol="0" anchor="ctr"/>
          <a:lstStyle/>
          <a:p>
            <a:pPr marL="0" indent="0" algn="ctr">
              <a:buNone/>
            </a:pPr>
            <a:r>
              <a:rPr lang="en-US" sz="1500" b="1" dirty="0">
                <a:solidFill>
                  <a:srgbClr val="C41E3A"/>
                </a:solidFill>
                <a:latin typeface="黑体" panose="02010609060101010101" pitchFamily="34" charset="-122"/>
                <a:ea typeface="黑体" panose="02010609060101010101" pitchFamily="34" charset="-122"/>
                <a:cs typeface="黑体" panose="02010609060101010101" pitchFamily="34" charset="-120"/>
              </a:rPr>
              <a:t>中国特色大国外交</a:t>
            </a:r>
            <a:endParaRPr lang="en-US" sz="1500" dirty="0"/>
          </a:p>
        </p:txBody>
      </p:sp>
      <p:sp>
        <p:nvSpPr>
          <p:cNvPr id="20" name="Shape 18"/>
          <p:cNvSpPr/>
          <p:nvPr/>
        </p:nvSpPr>
        <p:spPr>
          <a:xfrm>
            <a:off x="4069080" y="2423160"/>
            <a:ext cx="1143000" cy="18288"/>
          </a:xfrm>
          <a:prstGeom prst="rect">
            <a:avLst/>
          </a:prstGeom>
          <a:solidFill>
            <a:srgbClr val="D4A843"/>
          </a:solidFill>
        </p:spPr>
      </p:sp>
      <p:sp>
        <p:nvSpPr>
          <p:cNvPr id="21" name="Text 19"/>
          <p:cNvSpPr/>
          <p:nvPr/>
        </p:nvSpPr>
        <p:spPr>
          <a:xfrm>
            <a:off x="3611880" y="2514600"/>
            <a:ext cx="2057400" cy="1051560"/>
          </a:xfrm>
          <a:prstGeom prst="rect">
            <a:avLst/>
          </a:prstGeom>
          <a:noFill/>
        </p:spPr>
        <p:txBody>
          <a:bodyPr wrap="square" lIns="0" tIns="0" rIns="0" bIns="0" rtlCol="0" anchor="t"/>
          <a:lstStyle/>
          <a:p>
            <a:pPr marL="0" indent="0">
              <a:lnSpc>
                <a:spcPct val="140000"/>
              </a:lnSpc>
              <a:buNone/>
            </a:pPr>
            <a:r>
              <a:rPr lang="en-US" sz="105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坚持独立自主的和平外交政策，不走"国强必霸"的老路。在对外交往中坚持正确义利观，讲信义、重情义、扬正义、树道义。</a:t>
            </a:r>
            <a:endParaRPr lang="en-US" sz="1050" dirty="0"/>
          </a:p>
        </p:txBody>
      </p:sp>
      <p:sp>
        <p:nvSpPr>
          <p:cNvPr id="22" name="Shape 20"/>
          <p:cNvSpPr/>
          <p:nvPr/>
        </p:nvSpPr>
        <p:spPr>
          <a:xfrm>
            <a:off x="6217920" y="1554480"/>
            <a:ext cx="2606040" cy="2148840"/>
          </a:xfrm>
          <a:prstGeom prst="rect">
            <a:avLst/>
          </a:prstGeom>
          <a:solidFill>
            <a:srgbClr val="FFFFFF"/>
          </a:solidFill>
          <a:effectLst>
            <a:outerShdw blurRad="50800" dist="25400" dir="8100000" algn="bl" rotWithShape="0">
              <a:srgbClr val="000000">
                <a:alpha val="10000"/>
              </a:srgbClr>
            </a:outerShdw>
          </a:effectLst>
        </p:spPr>
      </p:sp>
      <p:sp>
        <p:nvSpPr>
          <p:cNvPr id="23" name="Shape 21"/>
          <p:cNvSpPr/>
          <p:nvPr/>
        </p:nvSpPr>
        <p:spPr>
          <a:xfrm>
            <a:off x="6217920" y="1554480"/>
            <a:ext cx="54864" cy="2148840"/>
          </a:xfrm>
          <a:prstGeom prst="rect">
            <a:avLst/>
          </a:prstGeom>
          <a:solidFill>
            <a:srgbClr val="D4A843"/>
          </a:solidFill>
        </p:spPr>
      </p:sp>
      <p:sp>
        <p:nvSpPr>
          <p:cNvPr id="24" name="Text 22"/>
          <p:cNvSpPr/>
          <p:nvPr/>
        </p:nvSpPr>
        <p:spPr>
          <a:xfrm>
            <a:off x="6217920" y="1645920"/>
            <a:ext cx="2606040" cy="411480"/>
          </a:xfrm>
          <a:prstGeom prst="rect">
            <a:avLst/>
          </a:prstGeom>
          <a:noFill/>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5" name="Text 23"/>
          <p:cNvSpPr/>
          <p:nvPr/>
        </p:nvSpPr>
        <p:spPr>
          <a:xfrm>
            <a:off x="6492240" y="2057400"/>
            <a:ext cx="2057400" cy="365760"/>
          </a:xfrm>
          <a:prstGeom prst="rect">
            <a:avLst/>
          </a:prstGeom>
          <a:noFill/>
        </p:spPr>
        <p:txBody>
          <a:bodyPr wrap="square" lIns="0" tIns="0" rIns="0" bIns="0" rtlCol="0" anchor="ctr"/>
          <a:lstStyle/>
          <a:p>
            <a:pPr marL="0" indent="0" algn="ctr">
              <a:buNone/>
            </a:pPr>
            <a:r>
              <a:rPr lang="en-US" sz="1500" b="1" dirty="0">
                <a:solidFill>
                  <a:srgbClr val="C41E3A"/>
                </a:solidFill>
                <a:latin typeface="黑体" panose="02010609060101010101" pitchFamily="34" charset="-122"/>
                <a:ea typeface="黑体" panose="02010609060101010101" pitchFamily="34" charset="-122"/>
                <a:cs typeface="黑体" panose="02010609060101010101" pitchFamily="34" charset="-120"/>
              </a:rPr>
              <a:t>影响力显著提升</a:t>
            </a:r>
            <a:endParaRPr lang="en-US" sz="1500" dirty="0"/>
          </a:p>
        </p:txBody>
      </p:sp>
      <p:sp>
        <p:nvSpPr>
          <p:cNvPr id="26" name="Shape 24"/>
          <p:cNvSpPr/>
          <p:nvPr/>
        </p:nvSpPr>
        <p:spPr>
          <a:xfrm>
            <a:off x="6949440" y="2423160"/>
            <a:ext cx="1143000" cy="18288"/>
          </a:xfrm>
          <a:prstGeom prst="rect">
            <a:avLst/>
          </a:prstGeom>
          <a:solidFill>
            <a:srgbClr val="D4A843"/>
          </a:solidFill>
        </p:spPr>
      </p:sp>
      <p:sp>
        <p:nvSpPr>
          <p:cNvPr id="27" name="Text 25"/>
          <p:cNvSpPr/>
          <p:nvPr/>
        </p:nvSpPr>
        <p:spPr>
          <a:xfrm>
            <a:off x="6492240" y="2514600"/>
            <a:ext cx="2057400" cy="1051560"/>
          </a:xfrm>
          <a:prstGeom prst="rect">
            <a:avLst/>
          </a:prstGeom>
          <a:noFill/>
        </p:spPr>
        <p:txBody>
          <a:bodyPr wrap="square" lIns="0" tIns="0" rIns="0" bIns="0" rtlCol="0" anchor="t"/>
          <a:lstStyle/>
          <a:p>
            <a:pPr marL="0" indent="0">
              <a:lnSpc>
                <a:spcPct val="140000"/>
              </a:lnSpc>
              <a:buNone/>
            </a:pPr>
            <a:r>
              <a:rPr lang="en-US" sz="105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从"韬光养晦"到"积极作为"，我国国际影响力、感召力、塑造力显著提升。为世界和平与发展作出更大贡献。</a:t>
            </a:r>
            <a:endParaRPr lang="en-US" sz="1050" dirty="0"/>
          </a:p>
        </p:txBody>
      </p:sp>
      <p:sp>
        <p:nvSpPr>
          <p:cNvPr id="28" name="Shape 26"/>
          <p:cNvSpPr/>
          <p:nvPr/>
        </p:nvSpPr>
        <p:spPr>
          <a:xfrm>
            <a:off x="457200" y="3840480"/>
            <a:ext cx="8229600" cy="868680"/>
          </a:xfrm>
          <a:prstGeom prst="rect">
            <a:avLst/>
          </a:prstGeom>
          <a:solidFill>
            <a:srgbClr val="FFF8F0"/>
          </a:solidFill>
          <a:ln w="19050">
            <a:solidFill>
              <a:srgbClr val="D4A843"/>
            </a:solidFill>
            <a:prstDash val="dash"/>
          </a:ln>
        </p:spPr>
      </p:sp>
      <p:sp>
        <p:nvSpPr>
          <p:cNvPr id="29" name="Text 27"/>
          <p:cNvSpPr/>
          <p:nvPr/>
        </p:nvSpPr>
        <p:spPr>
          <a:xfrm>
            <a:off x="640080" y="3840480"/>
            <a:ext cx="7863840" cy="868680"/>
          </a:xfrm>
          <a:prstGeom prst="rect">
            <a:avLst/>
          </a:prstGeom>
          <a:noFill/>
        </p:spPr>
        <p:txBody>
          <a:bodyPr wrap="square" lIns="0" tIns="0" rIns="0" bIns="0" rtlCol="0" anchor="ctr"/>
          <a:lstStyle/>
          <a:p>
            <a:pPr marL="0" indent="0" algn="ctr">
              <a:buNone/>
            </a:pPr>
            <a:r>
              <a:rPr lang="en-US" sz="11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 点击此处插入图片  |  推荐：G20峰会、联合国会议等国际场合照片（新华社）</a:t>
            </a:r>
            <a:endParaRPr lang="en-US" sz="1100" dirty="0"/>
          </a:p>
        </p:txBody>
      </p:sp>
      <p:pic>
        <p:nvPicPr>
          <p:cNvPr id="30" name="图片 29" descr="PPT配图_G20峰会_全球治理"/>
          <p:cNvPicPr>
            <a:picLocks noChangeAspect="1"/>
          </p:cNvPicPr>
          <p:nvPr/>
        </p:nvPicPr>
        <p:blipFill>
          <a:blip r:embed="rId1"/>
          <a:stretch>
            <a:fillRect/>
          </a:stretch>
        </p:blipFill>
        <p:spPr>
          <a:xfrm>
            <a:off x="1156335" y="3840480"/>
            <a:ext cx="6717030" cy="1290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6"/>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C41E3A"/>
          </a:solidFill>
        </p:spPr>
      </p:sp>
      <p:sp>
        <p:nvSpPr>
          <p:cNvPr id="3" name="Shape 1"/>
          <p:cNvSpPr/>
          <p:nvPr/>
        </p:nvSpPr>
        <p:spPr>
          <a:xfrm>
            <a:off x="0" y="1234440"/>
            <a:ext cx="9144000" cy="36576"/>
          </a:xfrm>
          <a:prstGeom prst="rect">
            <a:avLst/>
          </a:prstGeom>
          <a:solidFill>
            <a:srgbClr val="D4A843"/>
          </a:solidFill>
        </p:spPr>
      </p:sp>
      <p:sp>
        <p:nvSpPr>
          <p:cNvPr id="4" name="Text 2"/>
          <p:cNvSpPr/>
          <p:nvPr/>
        </p:nvSpPr>
        <p:spPr>
          <a:xfrm>
            <a:off x="731520" y="182880"/>
            <a:ext cx="7680960" cy="640080"/>
          </a:xfrm>
          <a:prstGeom prst="rect">
            <a:avLst/>
          </a:prstGeom>
          <a:noFill/>
        </p:spPr>
        <p:txBody>
          <a:bodyPr wrap="square" lIns="0" tIns="0" rIns="0" bIns="0" rtlCol="0" anchor="ctr"/>
          <a:lstStyle/>
          <a:p>
            <a:pPr marL="0" indent="0">
              <a:buNone/>
            </a:pPr>
            <a:r>
              <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第二节 · 全面推进中国特色大国外交（上）</a:t>
            </a:r>
            <a:endParaRPr lang="en-US" sz="3000" dirty="0"/>
          </a:p>
        </p:txBody>
      </p:sp>
      <p:sp>
        <p:nvSpPr>
          <p:cNvPr id="5" name="Text 3"/>
          <p:cNvSpPr/>
          <p:nvPr/>
        </p:nvSpPr>
        <p:spPr>
          <a:xfrm>
            <a:off x="731520" y="731520"/>
            <a:ext cx="7680960" cy="365760"/>
          </a:xfrm>
          <a:prstGeom prst="rect">
            <a:avLst/>
          </a:prstGeom>
          <a:noFill/>
        </p:spPr>
        <p:txBody>
          <a:bodyPr wrap="square" lIns="0" tIns="0" rIns="0" bIns="0" rtlCol="0" anchor="ctr"/>
          <a:lstStyle/>
          <a:p>
            <a:pPr marL="0" indent="0">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坚持走和平发展道路 · 推动构建新型国际关系</a:t>
            </a:r>
            <a:endParaRPr lang="en-US" sz="1400" dirty="0"/>
          </a:p>
        </p:txBody>
      </p:sp>
      <p:sp>
        <p:nvSpPr>
          <p:cNvPr id="6" name="Shape 4"/>
          <p:cNvSpPr/>
          <p:nvPr/>
        </p:nvSpPr>
        <p:spPr>
          <a:xfrm>
            <a:off x="0" y="4892040"/>
            <a:ext cx="9144000" cy="27432"/>
          </a:xfrm>
          <a:prstGeom prst="rect">
            <a:avLst/>
          </a:prstGeom>
          <a:solidFill>
            <a:srgbClr val="C41E3A"/>
          </a:solidFill>
        </p:spPr>
      </p:sp>
      <p:sp>
        <p:nvSpPr>
          <p:cNvPr id="7" name="Shape 5"/>
          <p:cNvSpPr/>
          <p:nvPr/>
        </p:nvSpPr>
        <p:spPr>
          <a:xfrm>
            <a:off x="0" y="4919472"/>
            <a:ext cx="9144000" cy="224028"/>
          </a:xfrm>
          <a:prstGeom prst="rect">
            <a:avLst/>
          </a:prstGeom>
          <a:solidFill>
            <a:srgbClr val="C41E3A"/>
          </a:solidFill>
        </p:spPr>
      </p:sp>
      <p:sp>
        <p:nvSpPr>
          <p:cNvPr id="8" name="Text 6"/>
          <p:cNvSpPr/>
          <p:nvPr/>
        </p:nvSpPr>
        <p:spPr>
          <a:xfrm>
            <a:off x="8046720" y="4919472"/>
            <a:ext cx="914400" cy="224028"/>
          </a:xfrm>
          <a:prstGeom prst="rect">
            <a:avLst/>
          </a:prstGeom>
          <a:noFill/>
        </p:spPr>
        <p:txBody>
          <a:bodyPr wrap="square" lIns="0" tIns="0" rIns="0" bIns="0" rtlCol="0" anchor="ctr"/>
          <a:lstStyle/>
          <a:p>
            <a:pPr marL="0" indent="0" algn="r">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6</a:t>
            </a:r>
            <a:endParaRPr lang="en-US" sz="1000" dirty="0"/>
          </a:p>
        </p:txBody>
      </p:sp>
      <p:sp>
        <p:nvSpPr>
          <p:cNvPr id="9" name="Text 7"/>
          <p:cNvSpPr/>
          <p:nvPr/>
        </p:nvSpPr>
        <p:spPr>
          <a:xfrm>
            <a:off x="457200" y="4919472"/>
            <a:ext cx="4572000" cy="224028"/>
          </a:xfrm>
          <a:prstGeom prst="rect">
            <a:avLst/>
          </a:prstGeom>
          <a:noFill/>
        </p:spPr>
        <p:txBody>
          <a:bodyPr wrap="square" lIns="0" tIns="0" rIns="0" bIns="0" rtlCol="0" anchor="ctr"/>
          <a:lstStyle/>
          <a:p>
            <a:pPr marL="0" indent="0">
              <a:buNone/>
            </a:pPr>
            <a:r>
              <a:rPr lang="en-US" sz="9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习概第16章 · 中国特色大国外交</a:t>
            </a:r>
            <a:endParaRPr lang="en-US" sz="900" dirty="0"/>
          </a:p>
        </p:txBody>
      </p:sp>
      <p:sp>
        <p:nvSpPr>
          <p:cNvPr id="10" name="Shape 8"/>
          <p:cNvSpPr/>
          <p:nvPr/>
        </p:nvSpPr>
        <p:spPr>
          <a:xfrm>
            <a:off x="457200" y="1554480"/>
            <a:ext cx="3977640" cy="3017520"/>
          </a:xfrm>
          <a:prstGeom prst="rect">
            <a:avLst/>
          </a:prstGeom>
          <a:solidFill>
            <a:srgbClr val="FFFFFF"/>
          </a:solidFill>
          <a:effectLst>
            <a:outerShdw blurRad="50800" dist="25400" dir="8100000" algn="bl" rotWithShape="0">
              <a:srgbClr val="000000">
                <a:alpha val="10000"/>
              </a:srgbClr>
            </a:outerShdw>
          </a:effectLst>
        </p:spPr>
      </p:sp>
      <p:sp>
        <p:nvSpPr>
          <p:cNvPr id="11" name="Shape 9"/>
          <p:cNvSpPr/>
          <p:nvPr/>
        </p:nvSpPr>
        <p:spPr>
          <a:xfrm>
            <a:off x="457200" y="1554480"/>
            <a:ext cx="54864" cy="3017520"/>
          </a:xfrm>
          <a:prstGeom prst="rect">
            <a:avLst/>
          </a:prstGeom>
          <a:solidFill>
            <a:srgbClr val="D4A843"/>
          </a:solidFill>
        </p:spPr>
      </p:sp>
      <p:sp>
        <p:nvSpPr>
          <p:cNvPr id="12" name="Text 10"/>
          <p:cNvSpPr/>
          <p:nvPr/>
        </p:nvSpPr>
        <p:spPr>
          <a:xfrm>
            <a:off x="457200" y="1691640"/>
            <a:ext cx="3977640" cy="457200"/>
          </a:xfrm>
          <a:prstGeom prst="rect">
            <a:avLst/>
          </a:prstGeom>
          <a:noFill/>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731520" y="2148840"/>
            <a:ext cx="3429000" cy="411480"/>
          </a:xfrm>
          <a:prstGeom prst="rect">
            <a:avLst/>
          </a:prstGeom>
          <a:noFill/>
        </p:spPr>
        <p:txBody>
          <a:bodyPr wrap="square" lIns="0" tIns="0" rIns="0" bIns="0" rtlCol="0" anchor="ctr"/>
          <a:lstStyle/>
          <a:p>
            <a:pPr marL="0" indent="0" algn="ctr">
              <a:buNone/>
            </a:pPr>
            <a:r>
              <a:rPr lang="en-US" sz="1800" b="1" dirty="0">
                <a:solidFill>
                  <a:srgbClr val="C41E3A"/>
                </a:solidFill>
                <a:latin typeface="黑体" panose="02010609060101010101" pitchFamily="34" charset="-122"/>
                <a:ea typeface="黑体" panose="02010609060101010101" pitchFamily="34" charset="-122"/>
                <a:cs typeface="黑体" panose="02010609060101010101" pitchFamily="34" charset="-120"/>
              </a:rPr>
              <a:t>坚持走和平发展道路</a:t>
            </a:r>
            <a:endParaRPr lang="en-US" sz="1800" dirty="0"/>
          </a:p>
        </p:txBody>
      </p:sp>
      <p:sp>
        <p:nvSpPr>
          <p:cNvPr id="14" name="Shape 12"/>
          <p:cNvSpPr/>
          <p:nvPr/>
        </p:nvSpPr>
        <p:spPr>
          <a:xfrm>
            <a:off x="1371600" y="2560320"/>
            <a:ext cx="2148840" cy="18288"/>
          </a:xfrm>
          <a:prstGeom prst="rect">
            <a:avLst/>
          </a:prstGeom>
          <a:solidFill>
            <a:srgbClr val="D4A843"/>
          </a:solidFill>
        </p:spPr>
      </p:sp>
      <p:sp>
        <p:nvSpPr>
          <p:cNvPr id="15" name="Text 13"/>
          <p:cNvSpPr/>
          <p:nvPr/>
        </p:nvSpPr>
        <p:spPr>
          <a:xfrm>
            <a:off x="731520" y="2697480"/>
            <a:ext cx="3429000" cy="1691640"/>
          </a:xfrm>
          <a:prstGeom prst="rect">
            <a:avLst/>
          </a:prstGeom>
          <a:noFill/>
        </p:spPr>
        <p:txBody>
          <a:bodyPr wrap="square" lIns="0" tIns="0" rIns="0" bIns="0" rtlCol="0" anchor="t"/>
          <a:lstStyle/>
          <a:p>
            <a:pPr marL="342900" indent="-342900">
              <a:spcAft>
                <a:spcPts val="800"/>
              </a:spcAft>
              <a:buSzPct val="100000"/>
              <a:buChar char="•"/>
            </a:pPr>
            <a:r>
              <a:rPr lang="en-US" sz="12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 和平发展是中国特色社会主义的必然选择</a:t>
            </a:r>
            <a:endParaRPr lang="en-US" sz="1200" dirty="0"/>
          </a:p>
          <a:p>
            <a:pPr marL="342900" indent="-342900">
              <a:spcAft>
                <a:spcPts val="800"/>
              </a:spcAft>
              <a:buSzPct val="100000"/>
              <a:buChar char="•"/>
            </a:pPr>
            <a:r>
              <a:rPr lang="en-US" sz="12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 不走"国强必霸"的老路，不搞扩张、不搞霸权</a:t>
            </a:r>
            <a:endParaRPr lang="en-US" sz="1200" dirty="0"/>
          </a:p>
          <a:p>
            <a:pPr marL="342900" indent="-342900">
              <a:spcAft>
                <a:spcPts val="800"/>
              </a:spcAft>
              <a:buSzPct val="100000"/>
              <a:buChar char="•"/>
            </a:pPr>
            <a:r>
              <a:rPr lang="en-US" sz="12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 以和平方式解决国际争端</a:t>
            </a:r>
            <a:endParaRPr lang="en-US" sz="1200" dirty="0"/>
          </a:p>
          <a:p>
            <a:pPr marL="342900" indent="-342900">
              <a:spcAft>
                <a:spcPts val="800"/>
              </a:spcAft>
              <a:buSzPct val="100000"/>
              <a:buChar char="•"/>
            </a:pPr>
            <a:r>
              <a:rPr lang="en-US" sz="12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 在追求本国利益时兼顾他国合理关切</a:t>
            </a:r>
            <a:endParaRPr lang="en-US" sz="1200" dirty="0"/>
          </a:p>
        </p:txBody>
      </p:sp>
      <p:sp>
        <p:nvSpPr>
          <p:cNvPr id="16" name="Shape 14"/>
          <p:cNvSpPr/>
          <p:nvPr/>
        </p:nvSpPr>
        <p:spPr>
          <a:xfrm>
            <a:off x="4709160" y="1554480"/>
            <a:ext cx="3977640" cy="3017520"/>
          </a:xfrm>
          <a:prstGeom prst="rect">
            <a:avLst/>
          </a:prstGeom>
          <a:solidFill>
            <a:srgbClr val="FFFFFF"/>
          </a:solidFill>
          <a:effectLst>
            <a:outerShdw blurRad="50800" dist="25400" dir="8100000" algn="bl" rotWithShape="0">
              <a:srgbClr val="000000">
                <a:alpha val="10000"/>
              </a:srgbClr>
            </a:outerShdw>
          </a:effectLst>
        </p:spPr>
      </p:sp>
      <p:sp>
        <p:nvSpPr>
          <p:cNvPr id="17" name="Shape 15"/>
          <p:cNvSpPr/>
          <p:nvPr/>
        </p:nvSpPr>
        <p:spPr>
          <a:xfrm>
            <a:off x="4709160" y="1554480"/>
            <a:ext cx="54864" cy="3017520"/>
          </a:xfrm>
          <a:prstGeom prst="rect">
            <a:avLst/>
          </a:prstGeom>
          <a:solidFill>
            <a:srgbClr val="D4A843"/>
          </a:solidFill>
        </p:spPr>
      </p:sp>
      <p:sp>
        <p:nvSpPr>
          <p:cNvPr id="18" name="Text 16"/>
          <p:cNvSpPr/>
          <p:nvPr/>
        </p:nvSpPr>
        <p:spPr>
          <a:xfrm>
            <a:off x="4709160" y="1691640"/>
            <a:ext cx="3977640" cy="457200"/>
          </a:xfrm>
          <a:prstGeom prst="rect">
            <a:avLst/>
          </a:prstGeom>
          <a:noFill/>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9" name="Text 17"/>
          <p:cNvSpPr/>
          <p:nvPr/>
        </p:nvSpPr>
        <p:spPr>
          <a:xfrm>
            <a:off x="4983480" y="2148840"/>
            <a:ext cx="3429000" cy="411480"/>
          </a:xfrm>
          <a:prstGeom prst="rect">
            <a:avLst/>
          </a:prstGeom>
          <a:noFill/>
        </p:spPr>
        <p:txBody>
          <a:bodyPr wrap="square" lIns="0" tIns="0" rIns="0" bIns="0" rtlCol="0" anchor="ctr"/>
          <a:lstStyle/>
          <a:p>
            <a:pPr marL="0" indent="0" algn="ctr">
              <a:buNone/>
            </a:pPr>
            <a:r>
              <a:rPr lang="en-US" sz="1800" b="1" dirty="0">
                <a:solidFill>
                  <a:srgbClr val="C41E3A"/>
                </a:solidFill>
                <a:latin typeface="黑体" panose="02010609060101010101" pitchFamily="34" charset="-122"/>
                <a:ea typeface="黑体" panose="02010609060101010101" pitchFamily="34" charset="-122"/>
                <a:cs typeface="黑体" panose="02010609060101010101" pitchFamily="34" charset="-120"/>
              </a:rPr>
              <a:t>推动构建新型国际关系</a:t>
            </a:r>
            <a:endParaRPr lang="en-US" sz="1800" dirty="0"/>
          </a:p>
        </p:txBody>
      </p:sp>
      <p:sp>
        <p:nvSpPr>
          <p:cNvPr id="20" name="Shape 18"/>
          <p:cNvSpPr/>
          <p:nvPr/>
        </p:nvSpPr>
        <p:spPr>
          <a:xfrm>
            <a:off x="5623560" y="2560320"/>
            <a:ext cx="2148840" cy="18288"/>
          </a:xfrm>
          <a:prstGeom prst="rect">
            <a:avLst/>
          </a:prstGeom>
          <a:solidFill>
            <a:srgbClr val="D4A843"/>
          </a:solidFill>
        </p:spPr>
      </p:sp>
      <p:sp>
        <p:nvSpPr>
          <p:cNvPr id="21" name="Shape 19"/>
          <p:cNvSpPr/>
          <p:nvPr/>
        </p:nvSpPr>
        <p:spPr>
          <a:xfrm>
            <a:off x="5074920" y="2651760"/>
            <a:ext cx="201168" cy="201168"/>
          </a:xfrm>
          <a:prstGeom prst="ellipse">
            <a:avLst/>
          </a:prstGeom>
          <a:solidFill>
            <a:srgbClr val="C41E3A"/>
          </a:solidFill>
        </p:spPr>
      </p:sp>
      <p:sp>
        <p:nvSpPr>
          <p:cNvPr id="22" name="Text 20"/>
          <p:cNvSpPr/>
          <p:nvPr/>
        </p:nvSpPr>
        <p:spPr>
          <a:xfrm>
            <a:off x="5394960" y="2606040"/>
            <a:ext cx="3017520" cy="228600"/>
          </a:xfrm>
          <a:prstGeom prst="rect">
            <a:avLst/>
          </a:prstGeom>
          <a:noFill/>
        </p:spPr>
        <p:txBody>
          <a:bodyPr wrap="square" lIns="0" tIns="0" rIns="0" bIns="0" rtlCol="0" anchor="ctr"/>
          <a:lstStyle/>
          <a:p>
            <a:pPr marL="0" indent="0">
              <a:buNone/>
            </a:pPr>
            <a:r>
              <a:rPr lang="en-US" sz="12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相互尊重</a:t>
            </a:r>
            <a:endParaRPr lang="en-US" sz="1200" dirty="0"/>
          </a:p>
        </p:txBody>
      </p:sp>
      <p:sp>
        <p:nvSpPr>
          <p:cNvPr id="23" name="Text 21"/>
          <p:cNvSpPr/>
          <p:nvPr/>
        </p:nvSpPr>
        <p:spPr>
          <a:xfrm>
            <a:off x="5394960" y="2852928"/>
            <a:ext cx="3017520" cy="320040"/>
          </a:xfrm>
          <a:prstGeom prst="rect">
            <a:avLst/>
          </a:prstGeom>
          <a:noFill/>
        </p:spPr>
        <p:txBody>
          <a:bodyPr wrap="square" lIns="0" tIns="0" rIns="0" bIns="0" rtlCol="0" anchor="ctr"/>
          <a:lstStyle/>
          <a:p>
            <a:pPr marL="0" indent="0">
              <a:buNone/>
            </a:pPr>
            <a:r>
              <a:rPr lang="en-US" sz="10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尊重各国自主选择的社会制度和发展道路</a:t>
            </a:r>
            <a:endParaRPr lang="en-US" sz="1000" dirty="0"/>
          </a:p>
        </p:txBody>
      </p:sp>
      <p:sp>
        <p:nvSpPr>
          <p:cNvPr id="24" name="Shape 22"/>
          <p:cNvSpPr/>
          <p:nvPr/>
        </p:nvSpPr>
        <p:spPr>
          <a:xfrm>
            <a:off x="5074920" y="3291840"/>
            <a:ext cx="201168" cy="201168"/>
          </a:xfrm>
          <a:prstGeom prst="ellipse">
            <a:avLst/>
          </a:prstGeom>
          <a:solidFill>
            <a:srgbClr val="C41E3A"/>
          </a:solidFill>
        </p:spPr>
      </p:sp>
      <p:sp>
        <p:nvSpPr>
          <p:cNvPr id="25" name="Text 23"/>
          <p:cNvSpPr/>
          <p:nvPr/>
        </p:nvSpPr>
        <p:spPr>
          <a:xfrm>
            <a:off x="5394960" y="3246120"/>
            <a:ext cx="3017520" cy="228600"/>
          </a:xfrm>
          <a:prstGeom prst="rect">
            <a:avLst/>
          </a:prstGeom>
          <a:noFill/>
        </p:spPr>
        <p:txBody>
          <a:bodyPr wrap="square" lIns="0" tIns="0" rIns="0" bIns="0" rtlCol="0" anchor="ctr"/>
          <a:lstStyle/>
          <a:p>
            <a:pPr marL="0" indent="0">
              <a:buNone/>
            </a:pPr>
            <a:r>
              <a:rPr lang="en-US" sz="12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公平正义</a:t>
            </a:r>
            <a:endParaRPr lang="en-US" sz="1200" dirty="0"/>
          </a:p>
        </p:txBody>
      </p:sp>
      <p:sp>
        <p:nvSpPr>
          <p:cNvPr id="26" name="Text 24"/>
          <p:cNvSpPr/>
          <p:nvPr/>
        </p:nvSpPr>
        <p:spPr>
          <a:xfrm>
            <a:off x="5394960" y="3493008"/>
            <a:ext cx="3017520" cy="320040"/>
          </a:xfrm>
          <a:prstGeom prst="rect">
            <a:avLst/>
          </a:prstGeom>
          <a:noFill/>
        </p:spPr>
        <p:txBody>
          <a:bodyPr wrap="square" lIns="0" tIns="0" rIns="0" bIns="0" rtlCol="0" anchor="ctr"/>
          <a:lstStyle/>
          <a:p>
            <a:pPr marL="0" indent="0">
              <a:buNone/>
            </a:pPr>
            <a:r>
              <a:rPr lang="en-US" sz="10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反对霸权主义和强权政治，坚持国家不分大小一律平等</a:t>
            </a:r>
            <a:endParaRPr lang="en-US" sz="1000" dirty="0"/>
          </a:p>
        </p:txBody>
      </p:sp>
      <p:sp>
        <p:nvSpPr>
          <p:cNvPr id="27" name="Shape 25"/>
          <p:cNvSpPr/>
          <p:nvPr/>
        </p:nvSpPr>
        <p:spPr>
          <a:xfrm>
            <a:off x="5074920" y="3931920"/>
            <a:ext cx="201168" cy="201168"/>
          </a:xfrm>
          <a:prstGeom prst="ellipse">
            <a:avLst/>
          </a:prstGeom>
          <a:solidFill>
            <a:srgbClr val="C41E3A"/>
          </a:solidFill>
        </p:spPr>
      </p:sp>
      <p:sp>
        <p:nvSpPr>
          <p:cNvPr id="28" name="Text 26"/>
          <p:cNvSpPr/>
          <p:nvPr/>
        </p:nvSpPr>
        <p:spPr>
          <a:xfrm>
            <a:off x="5394960" y="3886200"/>
            <a:ext cx="3017520" cy="228600"/>
          </a:xfrm>
          <a:prstGeom prst="rect">
            <a:avLst/>
          </a:prstGeom>
          <a:noFill/>
        </p:spPr>
        <p:txBody>
          <a:bodyPr wrap="square" lIns="0" tIns="0" rIns="0" bIns="0" rtlCol="0" anchor="ctr"/>
          <a:lstStyle/>
          <a:p>
            <a:pPr marL="0" indent="0">
              <a:buNone/>
            </a:pPr>
            <a:r>
              <a:rPr lang="en-US" sz="12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合作共赢</a:t>
            </a:r>
            <a:endParaRPr lang="en-US" sz="1200" dirty="0"/>
          </a:p>
        </p:txBody>
      </p:sp>
      <p:sp>
        <p:nvSpPr>
          <p:cNvPr id="29" name="Text 27"/>
          <p:cNvSpPr/>
          <p:nvPr/>
        </p:nvSpPr>
        <p:spPr>
          <a:xfrm>
            <a:off x="5394960" y="4133088"/>
            <a:ext cx="3017520" cy="320040"/>
          </a:xfrm>
          <a:prstGeom prst="rect">
            <a:avLst/>
          </a:prstGeom>
          <a:noFill/>
        </p:spPr>
        <p:txBody>
          <a:bodyPr wrap="square" lIns="0" tIns="0" rIns="0" bIns="0" rtlCol="0" anchor="ctr"/>
          <a:lstStyle/>
          <a:p>
            <a:pPr marL="0" indent="0">
              <a:buNone/>
            </a:pPr>
            <a:r>
              <a:rPr lang="en-US" sz="10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对话而不对抗、结伴而不结盟，实现共同发展</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6"/>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C41E3A"/>
          </a:solidFill>
        </p:spPr>
      </p:sp>
      <p:sp>
        <p:nvSpPr>
          <p:cNvPr id="3" name="Shape 1"/>
          <p:cNvSpPr/>
          <p:nvPr/>
        </p:nvSpPr>
        <p:spPr>
          <a:xfrm>
            <a:off x="0" y="1234440"/>
            <a:ext cx="9144000" cy="36576"/>
          </a:xfrm>
          <a:prstGeom prst="rect">
            <a:avLst/>
          </a:prstGeom>
          <a:solidFill>
            <a:srgbClr val="D4A843"/>
          </a:solidFill>
        </p:spPr>
      </p:sp>
      <p:sp>
        <p:nvSpPr>
          <p:cNvPr id="4" name="Text 2"/>
          <p:cNvSpPr/>
          <p:nvPr/>
        </p:nvSpPr>
        <p:spPr>
          <a:xfrm>
            <a:off x="731520" y="182880"/>
            <a:ext cx="7680960" cy="640080"/>
          </a:xfrm>
          <a:prstGeom prst="rect">
            <a:avLst/>
          </a:prstGeom>
          <a:noFill/>
        </p:spPr>
        <p:txBody>
          <a:bodyPr wrap="square" lIns="0" tIns="0" rIns="0" bIns="0" rtlCol="0" anchor="ctr"/>
          <a:lstStyle/>
          <a:p>
            <a:pPr marL="0" indent="0">
              <a:buNone/>
            </a:pPr>
            <a:r>
              <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第二节 · 全面推进中国特色大国外交（下）</a:t>
            </a:r>
            <a:endParaRPr lang="en-US" sz="3000" dirty="0"/>
          </a:p>
        </p:txBody>
      </p:sp>
      <p:sp>
        <p:nvSpPr>
          <p:cNvPr id="5" name="Text 3"/>
          <p:cNvSpPr/>
          <p:nvPr/>
        </p:nvSpPr>
        <p:spPr>
          <a:xfrm>
            <a:off x="731520" y="731520"/>
            <a:ext cx="7680960" cy="365760"/>
          </a:xfrm>
          <a:prstGeom prst="rect">
            <a:avLst/>
          </a:prstGeom>
          <a:noFill/>
        </p:spPr>
        <p:txBody>
          <a:bodyPr wrap="square" lIns="0" tIns="0" rIns="0" bIns="0" rtlCol="0" anchor="ctr"/>
          <a:lstStyle/>
          <a:p>
            <a:pPr marL="0" indent="0">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坚决维护国家利益 · 坚持外交为民</a:t>
            </a:r>
            <a:endParaRPr lang="en-US" sz="1400" dirty="0"/>
          </a:p>
        </p:txBody>
      </p:sp>
      <p:sp>
        <p:nvSpPr>
          <p:cNvPr id="6" name="Shape 4"/>
          <p:cNvSpPr/>
          <p:nvPr/>
        </p:nvSpPr>
        <p:spPr>
          <a:xfrm>
            <a:off x="0" y="4892040"/>
            <a:ext cx="9144000" cy="27432"/>
          </a:xfrm>
          <a:prstGeom prst="rect">
            <a:avLst/>
          </a:prstGeom>
          <a:solidFill>
            <a:srgbClr val="C41E3A"/>
          </a:solidFill>
        </p:spPr>
      </p:sp>
      <p:sp>
        <p:nvSpPr>
          <p:cNvPr id="7" name="Shape 5"/>
          <p:cNvSpPr/>
          <p:nvPr/>
        </p:nvSpPr>
        <p:spPr>
          <a:xfrm>
            <a:off x="0" y="4919472"/>
            <a:ext cx="9144000" cy="224028"/>
          </a:xfrm>
          <a:prstGeom prst="rect">
            <a:avLst/>
          </a:prstGeom>
          <a:solidFill>
            <a:srgbClr val="C41E3A"/>
          </a:solidFill>
        </p:spPr>
      </p:sp>
      <p:sp>
        <p:nvSpPr>
          <p:cNvPr id="8" name="Text 6"/>
          <p:cNvSpPr/>
          <p:nvPr/>
        </p:nvSpPr>
        <p:spPr>
          <a:xfrm>
            <a:off x="8046720" y="4919472"/>
            <a:ext cx="914400" cy="224028"/>
          </a:xfrm>
          <a:prstGeom prst="rect">
            <a:avLst/>
          </a:prstGeom>
          <a:noFill/>
        </p:spPr>
        <p:txBody>
          <a:bodyPr wrap="square" lIns="0" tIns="0" rIns="0" bIns="0" rtlCol="0" anchor="ctr"/>
          <a:lstStyle/>
          <a:p>
            <a:pPr marL="0" indent="0" algn="r">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7</a:t>
            </a:r>
            <a:endParaRPr lang="en-US" sz="1000" dirty="0"/>
          </a:p>
        </p:txBody>
      </p:sp>
      <p:sp>
        <p:nvSpPr>
          <p:cNvPr id="9" name="Text 7"/>
          <p:cNvSpPr/>
          <p:nvPr/>
        </p:nvSpPr>
        <p:spPr>
          <a:xfrm>
            <a:off x="457200" y="4919472"/>
            <a:ext cx="4572000" cy="224028"/>
          </a:xfrm>
          <a:prstGeom prst="rect">
            <a:avLst/>
          </a:prstGeom>
          <a:noFill/>
        </p:spPr>
        <p:txBody>
          <a:bodyPr wrap="square" lIns="0" tIns="0" rIns="0" bIns="0" rtlCol="0" anchor="ctr"/>
          <a:lstStyle/>
          <a:p>
            <a:pPr marL="0" indent="0">
              <a:buNone/>
            </a:pPr>
            <a:r>
              <a:rPr lang="en-US" sz="9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习概第16章 · 中国特色大国外交</a:t>
            </a:r>
            <a:endParaRPr lang="en-US" sz="900" dirty="0"/>
          </a:p>
        </p:txBody>
      </p:sp>
      <p:sp>
        <p:nvSpPr>
          <p:cNvPr id="10" name="Shape 8"/>
          <p:cNvSpPr/>
          <p:nvPr/>
        </p:nvSpPr>
        <p:spPr>
          <a:xfrm>
            <a:off x="457200" y="1554480"/>
            <a:ext cx="3977640" cy="3017520"/>
          </a:xfrm>
          <a:prstGeom prst="rect">
            <a:avLst/>
          </a:prstGeom>
          <a:solidFill>
            <a:srgbClr val="FFFFFF"/>
          </a:solidFill>
          <a:effectLst>
            <a:outerShdw blurRad="50800" dist="25400" dir="8100000" algn="bl" rotWithShape="0">
              <a:srgbClr val="000000">
                <a:alpha val="10000"/>
              </a:srgbClr>
            </a:outerShdw>
          </a:effectLst>
        </p:spPr>
      </p:sp>
      <p:sp>
        <p:nvSpPr>
          <p:cNvPr id="11" name="Shape 9"/>
          <p:cNvSpPr/>
          <p:nvPr/>
        </p:nvSpPr>
        <p:spPr>
          <a:xfrm>
            <a:off x="457200" y="1554480"/>
            <a:ext cx="54864" cy="3017520"/>
          </a:xfrm>
          <a:prstGeom prst="rect">
            <a:avLst/>
          </a:prstGeom>
          <a:solidFill>
            <a:srgbClr val="D4A843"/>
          </a:solidFill>
        </p:spPr>
      </p:sp>
      <p:sp>
        <p:nvSpPr>
          <p:cNvPr id="12" name="Shape 10"/>
          <p:cNvSpPr/>
          <p:nvPr/>
        </p:nvSpPr>
        <p:spPr>
          <a:xfrm>
            <a:off x="457200" y="1554480"/>
            <a:ext cx="3977640" cy="502920"/>
          </a:xfrm>
          <a:prstGeom prst="rect">
            <a:avLst/>
          </a:prstGeom>
          <a:solidFill>
            <a:srgbClr val="C41E3A"/>
          </a:solidFill>
        </p:spPr>
      </p:sp>
      <p:sp>
        <p:nvSpPr>
          <p:cNvPr id="13" name="Text 11"/>
          <p:cNvSpPr/>
          <p:nvPr/>
        </p:nvSpPr>
        <p:spPr>
          <a:xfrm>
            <a:off x="731520" y="1554480"/>
            <a:ext cx="3429000" cy="502920"/>
          </a:xfrm>
          <a:prstGeom prst="rect">
            <a:avLst/>
          </a:prstGeom>
          <a:noFill/>
        </p:spPr>
        <p:txBody>
          <a:bodyPr wrap="square" lIns="0" tIns="0" rIns="0" bIns="0" rtlCol="0" anchor="ctr"/>
          <a:lstStyle/>
          <a:p>
            <a:pPr marL="0" indent="0">
              <a:buNone/>
            </a:pPr>
            <a:r>
              <a:rPr lang="en-US" sz="1600" b="1" dirty="0">
                <a:solidFill>
                  <a:srgbClr val="FFFFFF"/>
                </a:solidFill>
                <a:latin typeface="黑体" panose="02010609060101010101" pitchFamily="34" charset="-122"/>
                <a:ea typeface="黑体" panose="02010609060101010101" pitchFamily="34" charset="-122"/>
                <a:cs typeface="黑体" panose="02010609060101010101" pitchFamily="34" charset="-120"/>
              </a:rPr>
              <a:t>坚决维护国家主权、安全、发展利益</a:t>
            </a:r>
            <a:endParaRPr lang="en-US" sz="1600" dirty="0"/>
          </a:p>
        </p:txBody>
      </p:sp>
      <p:sp>
        <p:nvSpPr>
          <p:cNvPr id="14" name="Text 12"/>
          <p:cNvSpPr/>
          <p:nvPr/>
        </p:nvSpPr>
        <p:spPr>
          <a:xfrm>
            <a:off x="731520" y="2194560"/>
            <a:ext cx="3429000" cy="2194560"/>
          </a:xfrm>
          <a:prstGeom prst="rect">
            <a:avLst/>
          </a:prstGeom>
          <a:noFill/>
        </p:spPr>
        <p:txBody>
          <a:bodyPr wrap="square" lIns="0" tIns="0" rIns="0" bIns="0" rtlCol="0" anchor="t"/>
          <a:lstStyle/>
          <a:p>
            <a:pPr marL="0" indent="0">
              <a:spcAft>
                <a:spcPts val="200"/>
              </a:spcAft>
              <a:buNone/>
            </a:pPr>
            <a:r>
              <a:rPr lang="en-US" sz="13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核心立场</a:t>
            </a:r>
            <a:endParaRPr lang="en-US" sz="1300" dirty="0"/>
          </a:p>
          <a:p>
            <a:pPr marL="0" indent="0">
              <a:spcAft>
                <a:spcPts val="200"/>
              </a:spcAft>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在国家核心利益问题上决不妥协、决不退让。</a:t>
            </a:r>
            <a:endParaRPr lang="en-US" sz="1300" dirty="0"/>
          </a:p>
          <a:p>
            <a:pPr marL="0" indent="0">
              <a:spcAft>
                <a:spcPts val="200"/>
              </a:spcAft>
              <a:buNone/>
            </a:pPr>
            <a:endParaRPr lang="en-US" sz="1300" dirty="0"/>
          </a:p>
          <a:p>
            <a:pPr marL="0" indent="0">
              <a:spcAft>
                <a:spcPts val="200"/>
              </a:spcAft>
              <a:buNone/>
            </a:pPr>
            <a:r>
              <a:rPr lang="en-US" sz="13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重点领域</a:t>
            </a:r>
            <a:endParaRPr lang="en-US" sz="1300" dirty="0"/>
          </a:p>
          <a:p>
            <a:pPr marL="342900" indent="-342900">
              <a:spcAft>
                <a:spcPts val="200"/>
              </a:spcAft>
              <a:buSzPct val="100000"/>
              <a:buChar char="•"/>
            </a:pPr>
            <a:r>
              <a:rPr 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 台湾问题：坚持一个中国原则</a:t>
            </a:r>
            <a:endParaRPr lang="en-US" sz="1300" dirty="0"/>
          </a:p>
          <a:p>
            <a:pPr marL="342900" indent="-342900">
              <a:spcAft>
                <a:spcPts val="200"/>
              </a:spcAft>
              <a:buSzPct val="100000"/>
              <a:buChar char="•"/>
            </a:pPr>
            <a:r>
              <a:rPr 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 南海问题：维护领土主权和海洋权益</a:t>
            </a:r>
            <a:endParaRPr lang="en-US" sz="1300" dirty="0"/>
          </a:p>
          <a:p>
            <a:pPr marL="342900" indent="-342900">
              <a:spcAft>
                <a:spcPts val="200"/>
              </a:spcAft>
              <a:buSzPct val="100000"/>
              <a:buChar char="•"/>
            </a:pPr>
            <a:r>
              <a:rPr 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 涉疆涉藏：反对外部势力干涉内政</a:t>
            </a:r>
            <a:endParaRPr lang="en-US" sz="1300" dirty="0"/>
          </a:p>
          <a:p>
            <a:pPr marL="342900" indent="-342900">
              <a:spcAft>
                <a:spcPts val="200"/>
              </a:spcAft>
              <a:buSzPct val="100000"/>
              <a:buChar char="•"/>
            </a:pPr>
            <a:r>
              <a:rPr 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 经济安全：维护产业链供应链稳定</a:t>
            </a:r>
            <a:endParaRPr lang="en-US" sz="1300" dirty="0"/>
          </a:p>
        </p:txBody>
      </p:sp>
      <p:sp>
        <p:nvSpPr>
          <p:cNvPr id="15" name="Shape 13"/>
          <p:cNvSpPr/>
          <p:nvPr/>
        </p:nvSpPr>
        <p:spPr>
          <a:xfrm>
            <a:off x="4709160" y="1554480"/>
            <a:ext cx="3977640" cy="3017520"/>
          </a:xfrm>
          <a:prstGeom prst="rect">
            <a:avLst/>
          </a:prstGeom>
          <a:solidFill>
            <a:srgbClr val="FFFFFF"/>
          </a:solidFill>
          <a:effectLst>
            <a:outerShdw blurRad="50800" dist="25400" dir="8100000" algn="bl" rotWithShape="0">
              <a:srgbClr val="000000">
                <a:alpha val="10000"/>
              </a:srgbClr>
            </a:outerShdw>
          </a:effectLst>
        </p:spPr>
      </p:sp>
      <p:sp>
        <p:nvSpPr>
          <p:cNvPr id="16" name="Shape 14"/>
          <p:cNvSpPr/>
          <p:nvPr/>
        </p:nvSpPr>
        <p:spPr>
          <a:xfrm>
            <a:off x="4709160" y="1554480"/>
            <a:ext cx="54864" cy="3017520"/>
          </a:xfrm>
          <a:prstGeom prst="rect">
            <a:avLst/>
          </a:prstGeom>
          <a:solidFill>
            <a:srgbClr val="D4A843"/>
          </a:solidFill>
        </p:spPr>
      </p:sp>
      <p:sp>
        <p:nvSpPr>
          <p:cNvPr id="17" name="Shape 15"/>
          <p:cNvSpPr/>
          <p:nvPr/>
        </p:nvSpPr>
        <p:spPr>
          <a:xfrm>
            <a:off x="4709160" y="1554480"/>
            <a:ext cx="3977640" cy="502920"/>
          </a:xfrm>
          <a:prstGeom prst="rect">
            <a:avLst/>
          </a:prstGeom>
          <a:solidFill>
            <a:srgbClr val="C41E3A"/>
          </a:solidFill>
        </p:spPr>
      </p:sp>
      <p:sp>
        <p:nvSpPr>
          <p:cNvPr id="18" name="Text 16"/>
          <p:cNvSpPr/>
          <p:nvPr/>
        </p:nvSpPr>
        <p:spPr>
          <a:xfrm>
            <a:off x="4983480" y="1554480"/>
            <a:ext cx="3429000" cy="502920"/>
          </a:xfrm>
          <a:prstGeom prst="rect">
            <a:avLst/>
          </a:prstGeom>
          <a:noFill/>
        </p:spPr>
        <p:txBody>
          <a:bodyPr wrap="square" lIns="0" tIns="0" rIns="0" bIns="0" rtlCol="0" anchor="ctr"/>
          <a:lstStyle/>
          <a:p>
            <a:pPr marL="0" indent="0">
              <a:buNone/>
            </a:pPr>
            <a:r>
              <a:rPr lang="en-US" sz="1600" b="1" dirty="0">
                <a:solidFill>
                  <a:srgbClr val="FFFFFF"/>
                </a:solidFill>
                <a:latin typeface="黑体" panose="02010609060101010101" pitchFamily="34" charset="-122"/>
                <a:ea typeface="黑体" panose="02010609060101010101" pitchFamily="34" charset="-122"/>
                <a:cs typeface="黑体" panose="02010609060101010101" pitchFamily="34" charset="-120"/>
              </a:rPr>
              <a:t>坚持外交为民</a:t>
            </a:r>
            <a:endParaRPr lang="en-US" sz="1600" dirty="0"/>
          </a:p>
        </p:txBody>
      </p:sp>
      <p:sp>
        <p:nvSpPr>
          <p:cNvPr id="19" name="Text 17"/>
          <p:cNvSpPr/>
          <p:nvPr/>
        </p:nvSpPr>
        <p:spPr>
          <a:xfrm>
            <a:off x="4983480" y="2194560"/>
            <a:ext cx="3429000" cy="2194560"/>
          </a:xfrm>
          <a:prstGeom prst="rect">
            <a:avLst/>
          </a:prstGeom>
          <a:noFill/>
        </p:spPr>
        <p:txBody>
          <a:bodyPr wrap="square" lIns="0" tIns="0" rIns="0" bIns="0" rtlCol="0" anchor="t"/>
          <a:lstStyle/>
          <a:p>
            <a:pPr marL="0" indent="0">
              <a:spcAft>
                <a:spcPts val="200"/>
              </a:spcAft>
              <a:buNone/>
            </a:pPr>
            <a:r>
              <a:rPr lang="en-US" sz="13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理念</a:t>
            </a:r>
            <a:endParaRPr lang="en-US" sz="1300" dirty="0"/>
          </a:p>
          <a:p>
            <a:pPr marL="0" indent="0">
              <a:spcAft>
                <a:spcPts val="200"/>
              </a:spcAft>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外交工作要服务人民，增强海外中国公民的安全感和获得感。</a:t>
            </a:r>
            <a:endParaRPr lang="en-US" sz="1300" dirty="0"/>
          </a:p>
          <a:p>
            <a:pPr marL="0" indent="0">
              <a:spcAft>
                <a:spcPts val="200"/>
              </a:spcAft>
              <a:buNone/>
            </a:pPr>
            <a:endParaRPr lang="en-US" sz="1300" dirty="0"/>
          </a:p>
          <a:p>
            <a:pPr marL="0" indent="0">
              <a:spcAft>
                <a:spcPts val="200"/>
              </a:spcAft>
              <a:buNone/>
            </a:pPr>
            <a:r>
              <a:rPr lang="en-US" sz="13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举措</a:t>
            </a:r>
            <a:endParaRPr lang="en-US" sz="1300" dirty="0"/>
          </a:p>
          <a:p>
            <a:pPr marL="342900" indent="-342900">
              <a:spcAft>
                <a:spcPts val="200"/>
              </a:spcAft>
              <a:buSzPct val="100000"/>
              <a:buChar char="•"/>
            </a:pPr>
            <a:r>
              <a:rPr 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 领事保护：24小时全球领事保护热线12308</a:t>
            </a:r>
            <a:endParaRPr lang="en-US" sz="1300" dirty="0"/>
          </a:p>
          <a:p>
            <a:pPr marL="342900" indent="-342900">
              <a:spcAft>
                <a:spcPts val="200"/>
              </a:spcAft>
              <a:buSzPct val="100000"/>
              <a:buChar char="•"/>
            </a:pPr>
            <a:r>
              <a:rPr 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 海外撤侨：多次成功组织大规模撤侨行动</a:t>
            </a:r>
            <a:endParaRPr lang="en-US" sz="1300" dirty="0"/>
          </a:p>
          <a:p>
            <a:pPr marL="342900" indent="-342900">
              <a:spcAft>
                <a:spcPts val="200"/>
              </a:spcAft>
              <a:buSzPct val="100000"/>
              <a:buChar char="•"/>
            </a:pPr>
            <a:r>
              <a:rPr 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 "中国领事"APP：指尖办理领事业务</a:t>
            </a:r>
            <a:endParaRPr lang="en-US" sz="1300" dirty="0"/>
          </a:p>
          <a:p>
            <a:pPr marL="342900" indent="-342900">
              <a:spcAft>
                <a:spcPts val="200"/>
              </a:spcAft>
              <a:buSzPct val="100000"/>
              <a:buChar char="•"/>
            </a:pPr>
            <a:r>
              <a:rPr 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 疫情互助：为海外同胞提供"健康包"等援助</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41E3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p:spPr>
      </p:sp>
      <p:sp>
        <p:nvSpPr>
          <p:cNvPr id="3" name="Shape 1"/>
          <p:cNvSpPr/>
          <p:nvPr/>
        </p:nvSpPr>
        <p:spPr>
          <a:xfrm>
            <a:off x="0" y="5088636"/>
            <a:ext cx="9144000" cy="54864"/>
          </a:xfrm>
          <a:prstGeom prst="rect">
            <a:avLst/>
          </a:prstGeom>
          <a:solidFill>
            <a:srgbClr val="D4A843"/>
          </a:solidFill>
        </p:spPr>
      </p:sp>
      <p:sp>
        <p:nvSpPr>
          <p:cNvPr id="4" name="Text 2"/>
          <p:cNvSpPr/>
          <p:nvPr/>
        </p:nvSpPr>
        <p:spPr>
          <a:xfrm>
            <a:off x="731520" y="365760"/>
            <a:ext cx="7680960" cy="457200"/>
          </a:xfrm>
          <a:prstGeom prst="rect">
            <a:avLst/>
          </a:prstGeom>
          <a:noFill/>
        </p:spPr>
        <p:txBody>
          <a:bodyPr wrap="square" lIns="0" tIns="0" rIns="0" bIns="0" rtlCol="0" anchor="ctr"/>
          <a:lstStyle/>
          <a:p>
            <a:pPr marL="0" indent="0" algn="ctr">
              <a:buNone/>
            </a:pPr>
            <a:r>
              <a:rPr lang="en-US" sz="18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第三节</a:t>
            </a:r>
            <a:endParaRPr lang="en-US" sz="1800" dirty="0"/>
          </a:p>
        </p:txBody>
      </p:sp>
      <p:sp>
        <p:nvSpPr>
          <p:cNvPr id="5" name="Text 3"/>
          <p:cNvSpPr/>
          <p:nvPr/>
        </p:nvSpPr>
        <p:spPr>
          <a:xfrm>
            <a:off x="731520" y="822960"/>
            <a:ext cx="7680960" cy="731520"/>
          </a:xfrm>
          <a:prstGeom prst="rect">
            <a:avLst/>
          </a:prstGeom>
          <a:noFill/>
        </p:spPr>
        <p:txBody>
          <a:bodyPr wrap="square" lIns="0" tIns="0" rIns="0" bIns="0" rtlCol="0" anchor="ctr"/>
          <a:lstStyle/>
          <a:p>
            <a:pPr marL="0" indent="0" algn="ctr">
              <a:buNone/>
            </a:pPr>
            <a:r>
              <a:rPr lang="en-US" sz="3200" b="1" dirty="0">
                <a:solidFill>
                  <a:srgbClr val="FFFFFF"/>
                </a:solidFill>
                <a:latin typeface="黑体" panose="02010609060101010101" pitchFamily="34" charset="-122"/>
                <a:ea typeface="黑体" panose="02010609060101010101" pitchFamily="34" charset="-122"/>
                <a:cs typeface="黑体" panose="02010609060101010101" pitchFamily="34" charset="-120"/>
              </a:rPr>
              <a:t>推动构建人类命运共同体</a:t>
            </a:r>
            <a:endParaRPr lang="en-US" sz="3200" dirty="0"/>
          </a:p>
        </p:txBody>
      </p:sp>
      <p:sp>
        <p:nvSpPr>
          <p:cNvPr id="6" name="Shape 4"/>
          <p:cNvSpPr/>
          <p:nvPr/>
        </p:nvSpPr>
        <p:spPr>
          <a:xfrm>
            <a:off x="4571365" y="1945640"/>
            <a:ext cx="3710940" cy="2597150"/>
          </a:xfrm>
          <a:prstGeom prst="rect">
            <a:avLst/>
          </a:prstGeom>
          <a:solidFill>
            <a:srgbClr val="8B1A2B"/>
          </a:solidFill>
        </p:spPr>
      </p:sp>
      <p:sp>
        <p:nvSpPr>
          <p:cNvPr id="7" name="Shape 5"/>
          <p:cNvSpPr/>
          <p:nvPr/>
        </p:nvSpPr>
        <p:spPr>
          <a:xfrm>
            <a:off x="4571365" y="1908810"/>
            <a:ext cx="3703320" cy="2633980"/>
          </a:xfrm>
          <a:prstGeom prst="rect">
            <a:avLst/>
          </a:prstGeom>
          <a:solidFill>
            <a:srgbClr val="000000">
              <a:alpha val="0"/>
            </a:srgbClr>
          </a:solidFill>
          <a:ln w="19050">
            <a:solidFill>
              <a:srgbClr val="D4A843"/>
            </a:solidFill>
            <a:prstDash val="solid"/>
          </a:ln>
        </p:spPr>
      </p:sp>
      <p:sp>
        <p:nvSpPr>
          <p:cNvPr id="8" name="Text 6"/>
          <p:cNvSpPr/>
          <p:nvPr/>
        </p:nvSpPr>
        <p:spPr>
          <a:xfrm>
            <a:off x="4596765" y="1993265"/>
            <a:ext cx="3479800" cy="320040"/>
          </a:xfrm>
          <a:prstGeom prst="rect">
            <a:avLst/>
          </a:prstGeom>
          <a:noFill/>
        </p:spPr>
        <p:txBody>
          <a:bodyPr wrap="square" lIns="0" tIns="0" rIns="0" bIns="0" rtlCol="0" anchor="ctr"/>
          <a:lstStyle/>
          <a:p>
            <a:pPr marL="0" indent="0" algn="ctr">
              <a:buNone/>
            </a:pPr>
            <a:r>
              <a:rPr lang="en-US" sz="15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构建人类命运共同体，建设一个：</a:t>
            </a:r>
            <a:endParaRPr lang="en-US" sz="1500" dirty="0"/>
          </a:p>
        </p:txBody>
      </p:sp>
      <p:sp>
        <p:nvSpPr>
          <p:cNvPr id="9" name="Shape 7"/>
          <p:cNvSpPr/>
          <p:nvPr/>
        </p:nvSpPr>
        <p:spPr>
          <a:xfrm>
            <a:off x="6529705" y="2916555"/>
            <a:ext cx="1097280" cy="320040"/>
          </a:xfrm>
          <a:prstGeom prst="ellipse">
            <a:avLst/>
          </a:prstGeom>
          <a:solidFill>
            <a:srgbClr val="C41E3A"/>
          </a:solidFill>
        </p:spPr>
      </p:sp>
      <p:sp>
        <p:nvSpPr>
          <p:cNvPr id="10" name="Text 8"/>
          <p:cNvSpPr/>
          <p:nvPr/>
        </p:nvSpPr>
        <p:spPr>
          <a:xfrm>
            <a:off x="6529705" y="2916555"/>
            <a:ext cx="10972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持久和平的世界</a:t>
            </a:r>
            <a:endParaRPr lang="en-US" sz="1000" dirty="0"/>
          </a:p>
        </p:txBody>
      </p:sp>
      <p:sp>
        <p:nvSpPr>
          <p:cNvPr id="11" name="Shape 9"/>
          <p:cNvSpPr/>
          <p:nvPr/>
        </p:nvSpPr>
        <p:spPr>
          <a:xfrm>
            <a:off x="5315585" y="2917190"/>
            <a:ext cx="1097280" cy="320040"/>
          </a:xfrm>
          <a:prstGeom prst="ellipse">
            <a:avLst/>
          </a:prstGeom>
          <a:solidFill>
            <a:srgbClr val="C41E3A"/>
          </a:solidFill>
        </p:spPr>
      </p:sp>
      <p:sp>
        <p:nvSpPr>
          <p:cNvPr id="12" name="Text 10"/>
          <p:cNvSpPr/>
          <p:nvPr/>
        </p:nvSpPr>
        <p:spPr>
          <a:xfrm>
            <a:off x="5315585" y="2916555"/>
            <a:ext cx="10972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普遍安全的世界</a:t>
            </a:r>
            <a:endParaRPr lang="en-US" sz="1000" dirty="0"/>
          </a:p>
        </p:txBody>
      </p:sp>
      <p:sp>
        <p:nvSpPr>
          <p:cNvPr id="13" name="Shape 11"/>
          <p:cNvSpPr/>
          <p:nvPr/>
        </p:nvSpPr>
        <p:spPr>
          <a:xfrm>
            <a:off x="4718050" y="2468880"/>
            <a:ext cx="1097280" cy="320040"/>
          </a:xfrm>
          <a:prstGeom prst="ellipse">
            <a:avLst/>
          </a:prstGeom>
          <a:solidFill>
            <a:srgbClr val="C41E3A"/>
          </a:solidFill>
        </p:spPr>
      </p:sp>
      <p:sp>
        <p:nvSpPr>
          <p:cNvPr id="14" name="Text 12"/>
          <p:cNvSpPr/>
          <p:nvPr/>
        </p:nvSpPr>
        <p:spPr>
          <a:xfrm>
            <a:off x="4718050" y="2468880"/>
            <a:ext cx="10972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共同繁荣的世界</a:t>
            </a:r>
            <a:endParaRPr lang="en-US" sz="1000" dirty="0"/>
          </a:p>
        </p:txBody>
      </p:sp>
      <p:sp>
        <p:nvSpPr>
          <p:cNvPr id="15" name="Shape 13"/>
          <p:cNvSpPr/>
          <p:nvPr/>
        </p:nvSpPr>
        <p:spPr>
          <a:xfrm>
            <a:off x="5920105" y="2468880"/>
            <a:ext cx="1097280" cy="320040"/>
          </a:xfrm>
          <a:prstGeom prst="ellipse">
            <a:avLst/>
          </a:prstGeom>
          <a:solidFill>
            <a:srgbClr val="C41E3A"/>
          </a:solidFill>
        </p:spPr>
      </p:sp>
      <p:sp>
        <p:nvSpPr>
          <p:cNvPr id="16" name="Text 14"/>
          <p:cNvSpPr/>
          <p:nvPr/>
        </p:nvSpPr>
        <p:spPr>
          <a:xfrm>
            <a:off x="5920105" y="2468880"/>
            <a:ext cx="10972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开放包容的世界</a:t>
            </a:r>
            <a:endParaRPr lang="en-US" sz="1000" dirty="0"/>
          </a:p>
        </p:txBody>
      </p:sp>
      <p:sp>
        <p:nvSpPr>
          <p:cNvPr id="17" name="Shape 15"/>
          <p:cNvSpPr/>
          <p:nvPr/>
        </p:nvSpPr>
        <p:spPr>
          <a:xfrm>
            <a:off x="7122160" y="2468880"/>
            <a:ext cx="1097280" cy="320040"/>
          </a:xfrm>
          <a:prstGeom prst="ellipse">
            <a:avLst/>
          </a:prstGeom>
          <a:solidFill>
            <a:srgbClr val="C41E3A"/>
          </a:solidFill>
        </p:spPr>
      </p:sp>
      <p:sp>
        <p:nvSpPr>
          <p:cNvPr id="18" name="Text 16"/>
          <p:cNvSpPr/>
          <p:nvPr/>
        </p:nvSpPr>
        <p:spPr>
          <a:xfrm>
            <a:off x="7122160" y="2468880"/>
            <a:ext cx="10972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清洁美丽的世界</a:t>
            </a:r>
            <a:endParaRPr lang="en-US" sz="1000" dirty="0"/>
          </a:p>
        </p:txBody>
      </p:sp>
      <p:sp>
        <p:nvSpPr>
          <p:cNvPr id="19" name="Text 17"/>
          <p:cNvSpPr/>
          <p:nvPr/>
        </p:nvSpPr>
        <p:spPr>
          <a:xfrm>
            <a:off x="4578985" y="3526790"/>
            <a:ext cx="3690620" cy="463550"/>
          </a:xfrm>
          <a:prstGeom prst="rect">
            <a:avLst/>
          </a:prstGeom>
          <a:noFill/>
        </p:spPr>
        <p:txBody>
          <a:bodyPr wrap="square" lIns="0" tIns="0" rIns="0" bIns="0" rtlCol="0" anchor="ctr"/>
          <a:lstStyle/>
          <a:p>
            <a:pPr marL="0" indent="0" algn="ctr">
              <a:buNone/>
            </a:pPr>
            <a:r>
              <a:rPr lang="en-US" sz="11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三大倡议：全球发展倡议 · 全球安全倡议 · 全球文明倡议</a:t>
            </a:r>
            <a:endParaRPr lang="en-US" sz="1100" dirty="0"/>
          </a:p>
        </p:txBody>
      </p:sp>
      <p:sp>
        <p:nvSpPr>
          <p:cNvPr id="20" name="Text 18"/>
          <p:cNvSpPr/>
          <p:nvPr/>
        </p:nvSpPr>
        <p:spPr>
          <a:xfrm>
            <a:off x="4558030" y="4026535"/>
            <a:ext cx="3710940" cy="515620"/>
          </a:xfrm>
          <a:prstGeom prst="rect">
            <a:avLst/>
          </a:prstGeom>
          <a:noFill/>
        </p:spPr>
        <p:txBody>
          <a:bodyPr wrap="square" lIns="0" tIns="0" rIns="0" bIns="0" rtlCol="0" anchor="ctr"/>
          <a:lstStyle/>
          <a:p>
            <a:pPr marL="0" indent="0" algn="ctr">
              <a:buNone/>
            </a:pPr>
            <a:r>
              <a:rPr lang="en-US" sz="1100" dirty="0">
                <a:solidFill>
                  <a:srgbClr val="FFF3D4"/>
                </a:solidFill>
                <a:latin typeface="微软雅黑" panose="020B0503020204020204" pitchFamily="34" charset="-122"/>
                <a:ea typeface="微软雅黑" panose="020B0503020204020204" pitchFamily="34" charset="-122"/>
                <a:cs typeface="微软雅黑" panose="020B0503020204020204" pitchFamily="34" charset="-120"/>
              </a:rPr>
              <a:t>全人类共同价值：和平 · 发展 · 公平 · 正义 · 民主 · 自由</a:t>
            </a:r>
            <a:endParaRPr lang="en-US" sz="1100" dirty="0"/>
          </a:p>
        </p:txBody>
      </p:sp>
      <p:sp>
        <p:nvSpPr>
          <p:cNvPr id="22" name="Text 20"/>
          <p:cNvSpPr/>
          <p:nvPr/>
        </p:nvSpPr>
        <p:spPr>
          <a:xfrm>
            <a:off x="1554480" y="3840480"/>
            <a:ext cx="6035040" cy="1051560"/>
          </a:xfrm>
          <a:prstGeom prst="rect">
            <a:avLst/>
          </a:prstGeom>
          <a:noFill/>
        </p:spPr>
        <p:txBody>
          <a:bodyPr wrap="square" lIns="0" tIns="0" rIns="0" bIns="0" rtlCol="0" anchor="ctr"/>
          <a:lstStyle/>
          <a:p>
            <a:pPr marL="0" indent="0" algn="ctr">
              <a:buNone/>
            </a:pPr>
            <a:endParaRPr lang="en-US" sz="1100" dirty="0"/>
          </a:p>
        </p:txBody>
      </p:sp>
      <p:pic>
        <p:nvPicPr>
          <p:cNvPr id="23" name="图片 22" descr="PPT配图_人类命运共同体_海报"/>
          <p:cNvPicPr>
            <a:picLocks noChangeAspect="1"/>
          </p:cNvPicPr>
          <p:nvPr/>
        </p:nvPicPr>
        <p:blipFill>
          <a:blip r:embed="rId1"/>
          <a:stretch>
            <a:fillRect/>
          </a:stretch>
        </p:blipFill>
        <p:spPr>
          <a:xfrm>
            <a:off x="1181100" y="1554480"/>
            <a:ext cx="2637790" cy="33858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5E6"/>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C41E3A"/>
          </a:solidFill>
        </p:spPr>
      </p:sp>
      <p:sp>
        <p:nvSpPr>
          <p:cNvPr id="3" name="Shape 1"/>
          <p:cNvSpPr/>
          <p:nvPr/>
        </p:nvSpPr>
        <p:spPr>
          <a:xfrm>
            <a:off x="0" y="1234440"/>
            <a:ext cx="9144000" cy="36576"/>
          </a:xfrm>
          <a:prstGeom prst="rect">
            <a:avLst/>
          </a:prstGeom>
          <a:solidFill>
            <a:srgbClr val="D4A843"/>
          </a:solidFill>
        </p:spPr>
      </p:sp>
      <p:sp>
        <p:nvSpPr>
          <p:cNvPr id="4" name="Text 2"/>
          <p:cNvSpPr/>
          <p:nvPr/>
        </p:nvSpPr>
        <p:spPr>
          <a:xfrm>
            <a:off x="731520" y="182880"/>
            <a:ext cx="7680960" cy="640080"/>
          </a:xfrm>
          <a:prstGeom prst="rect">
            <a:avLst/>
          </a:prstGeom>
          <a:noFill/>
        </p:spPr>
        <p:txBody>
          <a:bodyPr wrap="square" lIns="0" tIns="0" rIns="0" bIns="0" rtlCol="0" anchor="ctr"/>
          <a:lstStyle/>
          <a:p>
            <a:pPr marL="0" indent="0">
              <a:buNone/>
            </a:pPr>
            <a:r>
              <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第三节 · 全球治理体系改革与高质量共建"一带一路"</a:t>
            </a:r>
            <a:endParaRPr lang="en-US" sz="3000" dirty="0"/>
          </a:p>
        </p:txBody>
      </p:sp>
      <p:sp>
        <p:nvSpPr>
          <p:cNvPr id="5" name="Text 3"/>
          <p:cNvSpPr/>
          <p:nvPr/>
        </p:nvSpPr>
        <p:spPr>
          <a:xfrm>
            <a:off x="731520" y="731520"/>
            <a:ext cx="7680960" cy="365760"/>
          </a:xfrm>
          <a:prstGeom prst="rect">
            <a:avLst/>
          </a:prstGeom>
          <a:noFill/>
        </p:spPr>
        <p:txBody>
          <a:bodyPr wrap="square" lIns="0" tIns="0" rIns="0" bIns="0" rtlCol="0" anchor="ctr"/>
          <a:lstStyle/>
          <a:p>
            <a:pPr marL="0" indent="0">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积极参与全球治理 · 推动共同发展</a:t>
            </a:r>
            <a:endParaRPr lang="en-US" sz="1400" dirty="0"/>
          </a:p>
        </p:txBody>
      </p:sp>
      <p:sp>
        <p:nvSpPr>
          <p:cNvPr id="6" name="Shape 4"/>
          <p:cNvSpPr/>
          <p:nvPr/>
        </p:nvSpPr>
        <p:spPr>
          <a:xfrm>
            <a:off x="0" y="4892040"/>
            <a:ext cx="9144000" cy="27432"/>
          </a:xfrm>
          <a:prstGeom prst="rect">
            <a:avLst/>
          </a:prstGeom>
          <a:solidFill>
            <a:srgbClr val="C41E3A"/>
          </a:solidFill>
        </p:spPr>
      </p:sp>
      <p:sp>
        <p:nvSpPr>
          <p:cNvPr id="7" name="Shape 5"/>
          <p:cNvSpPr/>
          <p:nvPr/>
        </p:nvSpPr>
        <p:spPr>
          <a:xfrm>
            <a:off x="0" y="4919472"/>
            <a:ext cx="9144000" cy="224028"/>
          </a:xfrm>
          <a:prstGeom prst="rect">
            <a:avLst/>
          </a:prstGeom>
          <a:solidFill>
            <a:srgbClr val="C41E3A"/>
          </a:solidFill>
        </p:spPr>
      </p:sp>
      <p:sp>
        <p:nvSpPr>
          <p:cNvPr id="8" name="Text 6"/>
          <p:cNvSpPr/>
          <p:nvPr/>
        </p:nvSpPr>
        <p:spPr>
          <a:xfrm>
            <a:off x="8046720" y="4919472"/>
            <a:ext cx="914400" cy="224028"/>
          </a:xfrm>
          <a:prstGeom prst="rect">
            <a:avLst/>
          </a:prstGeom>
          <a:noFill/>
        </p:spPr>
        <p:txBody>
          <a:bodyPr wrap="square" lIns="0" tIns="0" rIns="0" bIns="0" rtlCol="0" anchor="ctr"/>
          <a:lstStyle/>
          <a:p>
            <a:pPr marL="0" indent="0" algn="r">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9</a:t>
            </a:r>
            <a:endParaRPr lang="en-US" sz="1000" dirty="0"/>
          </a:p>
        </p:txBody>
      </p:sp>
      <p:sp>
        <p:nvSpPr>
          <p:cNvPr id="9" name="Text 7"/>
          <p:cNvSpPr/>
          <p:nvPr/>
        </p:nvSpPr>
        <p:spPr>
          <a:xfrm>
            <a:off x="457200" y="4919472"/>
            <a:ext cx="4572000" cy="224028"/>
          </a:xfrm>
          <a:prstGeom prst="rect">
            <a:avLst/>
          </a:prstGeom>
          <a:noFill/>
        </p:spPr>
        <p:txBody>
          <a:bodyPr wrap="square" lIns="0" tIns="0" rIns="0" bIns="0" rtlCol="0" anchor="ctr"/>
          <a:lstStyle/>
          <a:p>
            <a:pPr marL="0" indent="0">
              <a:buNone/>
            </a:pPr>
            <a:r>
              <a:rPr lang="en-US" sz="9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习概第16章 · 中国特色大国外交</a:t>
            </a:r>
            <a:endParaRPr lang="en-US" sz="900" dirty="0"/>
          </a:p>
        </p:txBody>
      </p:sp>
      <p:sp>
        <p:nvSpPr>
          <p:cNvPr id="10" name="Shape 8"/>
          <p:cNvSpPr/>
          <p:nvPr/>
        </p:nvSpPr>
        <p:spPr>
          <a:xfrm>
            <a:off x="457200" y="1508760"/>
            <a:ext cx="3977640" cy="2286000"/>
          </a:xfrm>
          <a:prstGeom prst="rect">
            <a:avLst/>
          </a:prstGeom>
          <a:solidFill>
            <a:srgbClr val="FFFFFF"/>
          </a:solidFill>
          <a:effectLst>
            <a:outerShdw blurRad="50800" dist="25400" dir="8100000" algn="bl" rotWithShape="0">
              <a:srgbClr val="000000">
                <a:alpha val="10000"/>
              </a:srgbClr>
            </a:outerShdw>
          </a:effectLst>
        </p:spPr>
      </p:sp>
      <p:sp>
        <p:nvSpPr>
          <p:cNvPr id="11" name="Shape 9"/>
          <p:cNvSpPr/>
          <p:nvPr/>
        </p:nvSpPr>
        <p:spPr>
          <a:xfrm>
            <a:off x="457200" y="1508760"/>
            <a:ext cx="54864" cy="2286000"/>
          </a:xfrm>
          <a:prstGeom prst="rect">
            <a:avLst/>
          </a:prstGeom>
          <a:solidFill>
            <a:srgbClr val="D4A843"/>
          </a:solidFill>
        </p:spPr>
      </p:sp>
      <p:sp>
        <p:nvSpPr>
          <p:cNvPr id="12" name="Text 10"/>
          <p:cNvSpPr/>
          <p:nvPr/>
        </p:nvSpPr>
        <p:spPr>
          <a:xfrm>
            <a:off x="731520" y="1627632"/>
            <a:ext cx="3429000" cy="320040"/>
          </a:xfrm>
          <a:prstGeom prst="rect">
            <a:avLst/>
          </a:prstGeom>
          <a:noFill/>
        </p:spPr>
        <p:txBody>
          <a:bodyPr wrap="square" lIns="0" tIns="0" rIns="0" bIns="0" rtlCol="0" anchor="ctr"/>
          <a:lstStyle/>
          <a:p>
            <a:pPr marL="0" indent="0">
              <a:buNone/>
            </a:pPr>
            <a:r>
              <a:rPr lang="en-US" sz="1400" b="1" dirty="0">
                <a:solidFill>
                  <a:srgbClr val="C41E3A"/>
                </a:solidFill>
                <a:latin typeface="黑体" panose="02010609060101010101" pitchFamily="34" charset="-122"/>
                <a:ea typeface="黑体" panose="02010609060101010101" pitchFamily="34" charset="-122"/>
                <a:cs typeface="黑体" panose="02010609060101010101" pitchFamily="34" charset="-120"/>
              </a:rPr>
              <a:t>🌐 积极参与全球治理体系改革</a:t>
            </a:r>
            <a:endParaRPr lang="en-US" sz="1400" dirty="0"/>
          </a:p>
        </p:txBody>
      </p:sp>
      <p:sp>
        <p:nvSpPr>
          <p:cNvPr id="13" name="Text 11"/>
          <p:cNvSpPr/>
          <p:nvPr/>
        </p:nvSpPr>
        <p:spPr>
          <a:xfrm>
            <a:off x="731520" y="2011680"/>
            <a:ext cx="3429000" cy="1554480"/>
          </a:xfrm>
          <a:prstGeom prst="rect">
            <a:avLst/>
          </a:prstGeom>
          <a:noFill/>
        </p:spPr>
        <p:txBody>
          <a:bodyPr wrap="square" lIns="0" tIns="0" rIns="0" bIns="0" rtlCol="0" anchor="t"/>
          <a:lstStyle/>
          <a:p>
            <a:pPr marL="342900" indent="-342900">
              <a:spcAft>
                <a:spcPts val="300"/>
              </a:spcAft>
              <a:buSzPct val="100000"/>
              <a:buChar char="•"/>
            </a:pPr>
            <a:r>
              <a:rPr lang="en-US" sz="105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 维护以联合国为核心的国际体系</a:t>
            </a:r>
            <a:endParaRPr lang="en-US" sz="1050" dirty="0"/>
          </a:p>
          <a:p>
            <a:pPr marL="342900" indent="-342900">
              <a:spcAft>
                <a:spcPts val="300"/>
              </a:spcAft>
              <a:buSzPct val="100000"/>
              <a:buChar char="•"/>
            </a:pPr>
            <a:r>
              <a:rPr lang="en-US" sz="105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 推动IMF、世界银行等国际机构改革</a:t>
            </a:r>
            <a:endParaRPr lang="en-US" sz="1050" dirty="0"/>
          </a:p>
          <a:p>
            <a:pPr marL="342900" indent="-342900">
              <a:spcAft>
                <a:spcPts val="300"/>
              </a:spcAft>
              <a:buSzPct val="100000"/>
              <a:buChar char="•"/>
            </a:pPr>
            <a:r>
              <a:rPr lang="en-US" sz="105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 积极参与气候变化、维和、公共卫生等全球行动</a:t>
            </a:r>
            <a:endParaRPr lang="en-US" sz="1050" dirty="0"/>
          </a:p>
          <a:p>
            <a:pPr marL="342900" indent="-342900">
              <a:spcAft>
                <a:spcPts val="300"/>
              </a:spcAft>
              <a:buSzPct val="100000"/>
              <a:buChar char="•"/>
            </a:pPr>
            <a:r>
              <a:rPr lang="en-US" sz="105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 提出全球发展倡议、全球安全倡议、全球文明倡议</a:t>
            </a:r>
            <a:endParaRPr lang="en-US" sz="1050" dirty="0"/>
          </a:p>
          <a:p>
            <a:pPr marL="342900" indent="-342900">
              <a:spcAft>
                <a:spcPts val="300"/>
              </a:spcAft>
              <a:buSzPct val="100000"/>
              <a:buChar char="•"/>
            </a:pPr>
            <a:r>
              <a:rPr lang="en-US" sz="105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 加入RCEP，推进加入CPTPP进程</a:t>
            </a:r>
            <a:endParaRPr lang="en-US" sz="1050" dirty="0"/>
          </a:p>
        </p:txBody>
      </p:sp>
      <p:sp>
        <p:nvSpPr>
          <p:cNvPr id="14" name="Shape 12"/>
          <p:cNvSpPr/>
          <p:nvPr/>
        </p:nvSpPr>
        <p:spPr>
          <a:xfrm>
            <a:off x="4709160" y="1508760"/>
            <a:ext cx="3977640" cy="2286000"/>
          </a:xfrm>
          <a:prstGeom prst="rect">
            <a:avLst/>
          </a:prstGeom>
          <a:solidFill>
            <a:srgbClr val="FFFFFF"/>
          </a:solidFill>
          <a:effectLst>
            <a:outerShdw blurRad="50800" dist="25400" dir="8100000" algn="bl" rotWithShape="0">
              <a:srgbClr val="000000">
                <a:alpha val="10000"/>
              </a:srgbClr>
            </a:outerShdw>
          </a:effectLst>
        </p:spPr>
      </p:sp>
      <p:sp>
        <p:nvSpPr>
          <p:cNvPr id="15" name="Shape 13"/>
          <p:cNvSpPr/>
          <p:nvPr/>
        </p:nvSpPr>
        <p:spPr>
          <a:xfrm>
            <a:off x="4709160" y="1508760"/>
            <a:ext cx="54864" cy="2286000"/>
          </a:xfrm>
          <a:prstGeom prst="rect">
            <a:avLst/>
          </a:prstGeom>
          <a:solidFill>
            <a:srgbClr val="D4A843"/>
          </a:solidFill>
        </p:spPr>
      </p:sp>
      <p:sp>
        <p:nvSpPr>
          <p:cNvPr id="16" name="Text 14"/>
          <p:cNvSpPr/>
          <p:nvPr/>
        </p:nvSpPr>
        <p:spPr>
          <a:xfrm>
            <a:off x="4983480" y="1627632"/>
            <a:ext cx="3429000" cy="320040"/>
          </a:xfrm>
          <a:prstGeom prst="rect">
            <a:avLst/>
          </a:prstGeom>
          <a:noFill/>
        </p:spPr>
        <p:txBody>
          <a:bodyPr wrap="square" lIns="0" tIns="0" rIns="0" bIns="0" rtlCol="0" anchor="ctr"/>
          <a:lstStyle/>
          <a:p>
            <a:pPr marL="0" indent="0">
              <a:buNone/>
            </a:pPr>
            <a:r>
              <a:rPr lang="en-US" sz="1400" b="1" dirty="0">
                <a:solidFill>
                  <a:srgbClr val="C41E3A"/>
                </a:solidFill>
                <a:latin typeface="黑体" panose="02010609060101010101" pitchFamily="34" charset="-122"/>
                <a:ea typeface="黑体" panose="02010609060101010101" pitchFamily="34" charset="-122"/>
                <a:cs typeface="黑体" panose="02010609060101010101" pitchFamily="34" charset="-120"/>
              </a:rPr>
              <a:t>🚂 高质量共建"一带一路"</a:t>
            </a:r>
            <a:endParaRPr lang="en-US" sz="1400" dirty="0"/>
          </a:p>
        </p:txBody>
      </p:sp>
      <p:sp>
        <p:nvSpPr>
          <p:cNvPr id="17" name="Text 15"/>
          <p:cNvSpPr/>
          <p:nvPr/>
        </p:nvSpPr>
        <p:spPr>
          <a:xfrm>
            <a:off x="4846320" y="2103120"/>
            <a:ext cx="868680" cy="320040"/>
          </a:xfrm>
          <a:prstGeom prst="rect">
            <a:avLst/>
          </a:prstGeom>
          <a:noFill/>
        </p:spPr>
        <p:txBody>
          <a:bodyPr wrap="square" lIns="0" tIns="0" rIns="0" bIns="0" rtlCol="0" anchor="ctr"/>
          <a:lstStyle/>
          <a:p>
            <a:pPr marL="0" indent="0" algn="ctr">
              <a:buNone/>
            </a:pPr>
            <a:r>
              <a:rPr lang="en-US" sz="15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23.6万亿</a:t>
            </a:r>
            <a:endParaRPr lang="en-US" sz="1500" dirty="0"/>
          </a:p>
        </p:txBody>
      </p:sp>
      <p:sp>
        <p:nvSpPr>
          <p:cNvPr id="18" name="Text 16"/>
          <p:cNvSpPr/>
          <p:nvPr/>
        </p:nvSpPr>
        <p:spPr>
          <a:xfrm>
            <a:off x="4846320" y="2423160"/>
            <a:ext cx="868680" cy="274320"/>
          </a:xfrm>
          <a:prstGeom prst="rect">
            <a:avLst/>
          </a:prstGeom>
          <a:noFill/>
        </p:spPr>
        <p:txBody>
          <a:bodyPr wrap="square" lIns="0" tIns="0" rIns="0" bIns="0" rtlCol="0" anchor="ctr"/>
          <a:lstStyle/>
          <a:p>
            <a:pPr marL="0" indent="0" algn="ctr">
              <a:buNone/>
            </a:pPr>
            <a:r>
              <a:rPr lang="en-US" sz="7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对共建国家进出口</a:t>
            </a:r>
            <a:endParaRPr lang="en-US" sz="750" dirty="0"/>
          </a:p>
        </p:txBody>
      </p:sp>
      <p:sp>
        <p:nvSpPr>
          <p:cNvPr id="19" name="Text 17"/>
          <p:cNvSpPr/>
          <p:nvPr/>
        </p:nvSpPr>
        <p:spPr>
          <a:xfrm>
            <a:off x="5806440" y="2103120"/>
            <a:ext cx="868680" cy="320040"/>
          </a:xfrm>
          <a:prstGeom prst="rect">
            <a:avLst/>
          </a:prstGeom>
          <a:noFill/>
        </p:spPr>
        <p:txBody>
          <a:bodyPr wrap="square" lIns="0" tIns="0" rIns="0" bIns="0" rtlCol="0" anchor="ctr"/>
          <a:lstStyle/>
          <a:p>
            <a:pPr marL="0" indent="0" algn="ctr">
              <a:buNone/>
            </a:pPr>
            <a:r>
              <a:rPr lang="en-US" sz="15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51.9%</a:t>
            </a:r>
            <a:endParaRPr lang="en-US" sz="1500" dirty="0"/>
          </a:p>
        </p:txBody>
      </p:sp>
      <p:sp>
        <p:nvSpPr>
          <p:cNvPr id="20" name="Text 18"/>
          <p:cNvSpPr/>
          <p:nvPr/>
        </p:nvSpPr>
        <p:spPr>
          <a:xfrm>
            <a:off x="5806440" y="2423160"/>
            <a:ext cx="868680" cy="274320"/>
          </a:xfrm>
          <a:prstGeom prst="rect">
            <a:avLst/>
          </a:prstGeom>
          <a:noFill/>
        </p:spPr>
        <p:txBody>
          <a:bodyPr wrap="square" lIns="0" tIns="0" rIns="0" bIns="0" rtlCol="0" anchor="ctr"/>
          <a:lstStyle/>
          <a:p>
            <a:pPr marL="0" indent="0" algn="ctr">
              <a:buNone/>
            </a:pPr>
            <a:r>
              <a:rPr lang="en-US" sz="7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共建伙伴占外贸比重</a:t>
            </a:r>
            <a:endParaRPr lang="en-US" sz="750" dirty="0"/>
          </a:p>
        </p:txBody>
      </p:sp>
      <p:sp>
        <p:nvSpPr>
          <p:cNvPr id="21" name="Text 19"/>
          <p:cNvSpPr/>
          <p:nvPr/>
        </p:nvSpPr>
        <p:spPr>
          <a:xfrm>
            <a:off x="6766560" y="2103120"/>
            <a:ext cx="868680" cy="320040"/>
          </a:xfrm>
          <a:prstGeom prst="rect">
            <a:avLst/>
          </a:prstGeom>
          <a:noFill/>
        </p:spPr>
        <p:txBody>
          <a:bodyPr wrap="square" lIns="0" tIns="0" rIns="0" bIns="0" rtlCol="0" anchor="ctr"/>
          <a:lstStyle/>
          <a:p>
            <a:pPr marL="0" indent="0" algn="ctr">
              <a:buNone/>
            </a:pPr>
            <a:r>
              <a:rPr lang="en-US" sz="15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12万+列</a:t>
            </a:r>
            <a:endParaRPr lang="en-US" sz="1500" dirty="0"/>
          </a:p>
        </p:txBody>
      </p:sp>
      <p:sp>
        <p:nvSpPr>
          <p:cNvPr id="22" name="Text 20"/>
          <p:cNvSpPr/>
          <p:nvPr/>
        </p:nvSpPr>
        <p:spPr>
          <a:xfrm>
            <a:off x="6766560" y="2423160"/>
            <a:ext cx="868680" cy="274320"/>
          </a:xfrm>
          <a:prstGeom prst="rect">
            <a:avLst/>
          </a:prstGeom>
          <a:noFill/>
        </p:spPr>
        <p:txBody>
          <a:bodyPr wrap="square" lIns="0" tIns="0" rIns="0" bIns="0" rtlCol="0" anchor="ctr"/>
          <a:lstStyle/>
          <a:p>
            <a:pPr marL="0" indent="0" algn="ctr">
              <a:buNone/>
            </a:pPr>
            <a:r>
              <a:rPr lang="en-US" sz="7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中欧班列累计开行</a:t>
            </a:r>
            <a:endParaRPr lang="en-US" sz="750" dirty="0"/>
          </a:p>
        </p:txBody>
      </p:sp>
      <p:sp>
        <p:nvSpPr>
          <p:cNvPr id="23" name="Text 21"/>
          <p:cNvSpPr/>
          <p:nvPr/>
        </p:nvSpPr>
        <p:spPr>
          <a:xfrm>
            <a:off x="7726680" y="2103120"/>
            <a:ext cx="868680" cy="320040"/>
          </a:xfrm>
          <a:prstGeom prst="rect">
            <a:avLst/>
          </a:prstGeom>
          <a:noFill/>
        </p:spPr>
        <p:txBody>
          <a:bodyPr wrap="square" lIns="0" tIns="0" rIns="0" bIns="0" rtlCol="0" anchor="ctr"/>
          <a:lstStyle/>
          <a:p>
            <a:pPr marL="0" indent="0" algn="ctr">
              <a:buNone/>
            </a:pPr>
            <a:r>
              <a:rPr lang="en-US" sz="1500" b="1"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22国</a:t>
            </a:r>
            <a:endParaRPr lang="en-US" sz="1500" dirty="0"/>
          </a:p>
        </p:txBody>
      </p:sp>
      <p:sp>
        <p:nvSpPr>
          <p:cNvPr id="24" name="Text 22"/>
          <p:cNvSpPr/>
          <p:nvPr/>
        </p:nvSpPr>
        <p:spPr>
          <a:xfrm>
            <a:off x="7726680" y="2423160"/>
            <a:ext cx="868680" cy="274320"/>
          </a:xfrm>
          <a:prstGeom prst="rect">
            <a:avLst/>
          </a:prstGeom>
          <a:noFill/>
        </p:spPr>
        <p:txBody>
          <a:bodyPr wrap="square" lIns="0" tIns="0" rIns="0" bIns="0" rtlCol="0" anchor="ctr"/>
          <a:lstStyle/>
          <a:p>
            <a:pPr marL="0" indent="0" algn="ctr">
              <a:buNone/>
            </a:pPr>
            <a:r>
              <a:rPr lang="en-US" sz="7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签署自贸协定</a:t>
            </a:r>
            <a:endParaRPr lang="en-US" sz="750" dirty="0"/>
          </a:p>
        </p:txBody>
      </p:sp>
      <p:sp>
        <p:nvSpPr>
          <p:cNvPr id="25" name="Text 23"/>
          <p:cNvSpPr/>
          <p:nvPr/>
        </p:nvSpPr>
        <p:spPr>
          <a:xfrm>
            <a:off x="4983480" y="3200400"/>
            <a:ext cx="3429000" cy="182880"/>
          </a:xfrm>
          <a:prstGeom prst="rect">
            <a:avLst/>
          </a:prstGeom>
          <a:noFill/>
        </p:spPr>
        <p:txBody>
          <a:bodyPr wrap="square" lIns="0" tIns="0" rIns="0" bIns="0" rtlCol="0" anchor="ctr"/>
          <a:lstStyle/>
          <a:p>
            <a:pPr marL="0" indent="0">
              <a:buNone/>
            </a:pPr>
            <a:r>
              <a:rPr lang="en-US" sz="800" i="1"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（2025年数据，来源：人民网、央视网）</a:t>
            </a:r>
            <a:endParaRPr lang="en-US" sz="800" dirty="0"/>
          </a:p>
        </p:txBody>
      </p:sp>
      <p:sp>
        <p:nvSpPr>
          <p:cNvPr id="26" name="Shape 24"/>
          <p:cNvSpPr/>
          <p:nvPr/>
        </p:nvSpPr>
        <p:spPr>
          <a:xfrm>
            <a:off x="457200" y="3931920"/>
            <a:ext cx="8229600" cy="777240"/>
          </a:xfrm>
          <a:prstGeom prst="rect">
            <a:avLst/>
          </a:prstGeom>
          <a:solidFill>
            <a:srgbClr val="FFF8F0"/>
          </a:solidFill>
          <a:ln w="19050">
            <a:solidFill>
              <a:srgbClr val="D4A843"/>
            </a:solidFill>
            <a:prstDash val="dash"/>
          </a:ln>
        </p:spPr>
      </p:sp>
      <p:sp>
        <p:nvSpPr>
          <p:cNvPr id="27" name="Text 25"/>
          <p:cNvSpPr/>
          <p:nvPr/>
        </p:nvSpPr>
        <p:spPr>
          <a:xfrm>
            <a:off x="640080" y="3931920"/>
            <a:ext cx="7863840" cy="777240"/>
          </a:xfrm>
          <a:prstGeom prst="rect">
            <a:avLst/>
          </a:prstGeom>
          <a:noFill/>
        </p:spPr>
        <p:txBody>
          <a:bodyPr wrap="square" lIns="0" tIns="0" rIns="0" bIns="0" rtlCol="0" anchor="ctr"/>
          <a:lstStyle/>
          <a:p>
            <a:pPr marL="0" indent="0" algn="ctr">
              <a:buNone/>
            </a:pPr>
            <a:r>
              <a:rPr lang="en-US" sz="11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 点击此处插入图片  |  推荐：中欧班列无人机航拍照片（新华社）</a:t>
            </a:r>
            <a:endParaRPr lang="en-US" sz="1100" dirty="0"/>
          </a:p>
        </p:txBody>
      </p:sp>
      <p:pic>
        <p:nvPicPr>
          <p:cNvPr id="28" name="图片 27" descr="PPT配图_中欧班列_满洲里"/>
          <p:cNvPicPr>
            <a:picLocks noChangeAspect="1"/>
          </p:cNvPicPr>
          <p:nvPr/>
        </p:nvPicPr>
        <p:blipFill>
          <a:blip r:embed="rId1"/>
          <a:stretch>
            <a:fillRect/>
          </a:stretch>
        </p:blipFill>
        <p:spPr>
          <a:xfrm>
            <a:off x="791210" y="3886200"/>
            <a:ext cx="7767320" cy="12630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41E3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p:spPr>
      </p:sp>
      <p:sp>
        <p:nvSpPr>
          <p:cNvPr id="3" name="Shape 1"/>
          <p:cNvSpPr/>
          <p:nvPr/>
        </p:nvSpPr>
        <p:spPr>
          <a:xfrm>
            <a:off x="0" y="5088636"/>
            <a:ext cx="9144000" cy="54864"/>
          </a:xfrm>
          <a:prstGeom prst="rect">
            <a:avLst/>
          </a:prstGeom>
          <a:solidFill>
            <a:srgbClr val="D4A843"/>
          </a:solidFill>
        </p:spPr>
      </p:sp>
      <p:sp>
        <p:nvSpPr>
          <p:cNvPr id="4" name="Text 2"/>
          <p:cNvSpPr/>
          <p:nvPr/>
        </p:nvSpPr>
        <p:spPr>
          <a:xfrm>
            <a:off x="731520" y="228600"/>
            <a:ext cx="7680960" cy="502920"/>
          </a:xfrm>
          <a:prstGeom prst="rect">
            <a:avLst/>
          </a:prstGeom>
          <a:noFill/>
        </p:spPr>
        <p:txBody>
          <a:bodyPr wrap="square" lIns="0" tIns="0" rIns="0" bIns="0" rtlCol="0" anchor="ctr"/>
          <a:lstStyle/>
          <a:p>
            <a:pPr marL="0" indent="0" algn="ctr">
              <a:buNone/>
            </a:pPr>
            <a:r>
              <a:rPr lang="en-US" sz="2600" b="1" dirty="0">
                <a:solidFill>
                  <a:srgbClr val="D4A843"/>
                </a:solidFill>
                <a:latin typeface="黑体" panose="02010609060101010101" pitchFamily="34" charset="-122"/>
                <a:ea typeface="黑体" panose="02010609060101010101" pitchFamily="34" charset="-122"/>
                <a:cs typeface="黑体" panose="02010609060101010101" pitchFamily="34" charset="-120"/>
              </a:rPr>
              <a:t>新闻回扣理论</a:t>
            </a:r>
            <a:endParaRPr lang="en-US" sz="2600" dirty="0"/>
          </a:p>
        </p:txBody>
      </p:sp>
      <p:sp>
        <p:nvSpPr>
          <p:cNvPr id="5" name="Text 3"/>
          <p:cNvSpPr/>
          <p:nvPr/>
        </p:nvSpPr>
        <p:spPr>
          <a:xfrm>
            <a:off x="731520" y="685800"/>
            <a:ext cx="7680960" cy="320040"/>
          </a:xfrm>
          <a:prstGeom prst="rect">
            <a:avLst/>
          </a:prstGeom>
          <a:noFill/>
        </p:spPr>
        <p:txBody>
          <a:bodyPr wrap="square" lIns="0" tIns="0" rIns="0" bIns="0" rtlCol="0" anchor="ctr"/>
          <a:lstStyle/>
          <a:p>
            <a:pPr marL="0" indent="0" algn="ctr">
              <a:buNone/>
            </a:pPr>
            <a:r>
              <a:rPr lang="en-US" sz="13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中孟命运共同体如何体现第十六章核心内容？</a:t>
            </a:r>
            <a:endParaRPr lang="en-US" sz="1300" dirty="0"/>
          </a:p>
        </p:txBody>
      </p:sp>
      <p:sp>
        <p:nvSpPr>
          <p:cNvPr id="6" name="Shape 4"/>
          <p:cNvSpPr/>
          <p:nvPr/>
        </p:nvSpPr>
        <p:spPr>
          <a:xfrm>
            <a:off x="731520" y="1280160"/>
            <a:ext cx="2560320" cy="411480"/>
          </a:xfrm>
          <a:prstGeom prst="rect">
            <a:avLst/>
          </a:prstGeom>
          <a:solidFill>
            <a:srgbClr val="8B1A2B"/>
          </a:solidFill>
        </p:spPr>
      </p:sp>
      <p:sp>
        <p:nvSpPr>
          <p:cNvPr id="7" name="Text 5"/>
          <p:cNvSpPr/>
          <p:nvPr/>
        </p:nvSpPr>
        <p:spPr>
          <a:xfrm>
            <a:off x="731520" y="1280160"/>
            <a:ext cx="2560320" cy="411480"/>
          </a:xfrm>
          <a:prstGeom prst="rect">
            <a:avLst/>
          </a:prstGeom>
          <a:noFill/>
        </p:spPr>
        <p:txBody>
          <a:bodyPr wrap="square" lIns="0" tIns="0" rIns="0" bIns="0" rtlCol="0" anchor="ctr"/>
          <a:lstStyle/>
          <a:p>
            <a:pPr marL="0" indent="0" algn="ctr">
              <a:buNone/>
            </a:pPr>
            <a:r>
              <a:rPr lang="en-US" sz="1300" b="1" dirty="0">
                <a:solidFill>
                  <a:srgbClr val="D4A843"/>
                </a:solidFill>
                <a:latin typeface="黑体" panose="02010609060101010101" pitchFamily="34" charset="-122"/>
                <a:ea typeface="黑体" panose="02010609060101010101" pitchFamily="34" charset="-122"/>
                <a:cs typeface="黑体" panose="02010609060101010101" pitchFamily="34" charset="-120"/>
              </a:rPr>
              <a:t>第十六章理论要点</a:t>
            </a:r>
            <a:endParaRPr lang="en-US" sz="1300" dirty="0"/>
          </a:p>
        </p:txBody>
      </p:sp>
      <p:sp>
        <p:nvSpPr>
          <p:cNvPr id="8" name="Shape 6"/>
          <p:cNvSpPr/>
          <p:nvPr/>
        </p:nvSpPr>
        <p:spPr>
          <a:xfrm>
            <a:off x="3474720" y="1280160"/>
            <a:ext cx="4937760" cy="411480"/>
          </a:xfrm>
          <a:prstGeom prst="rect">
            <a:avLst/>
          </a:prstGeom>
          <a:solidFill>
            <a:srgbClr val="8B1A2B"/>
          </a:solidFill>
        </p:spPr>
      </p:sp>
      <p:sp>
        <p:nvSpPr>
          <p:cNvPr id="9" name="Text 7"/>
          <p:cNvSpPr/>
          <p:nvPr/>
        </p:nvSpPr>
        <p:spPr>
          <a:xfrm>
            <a:off x="3474720" y="1280160"/>
            <a:ext cx="4937760" cy="411480"/>
          </a:xfrm>
          <a:prstGeom prst="rect">
            <a:avLst/>
          </a:prstGeom>
          <a:noFill/>
        </p:spPr>
        <p:txBody>
          <a:bodyPr wrap="square" lIns="0" tIns="0" rIns="0" bIns="0" rtlCol="0" anchor="ctr"/>
          <a:lstStyle/>
          <a:p>
            <a:pPr marL="0" indent="0" algn="ctr">
              <a:buNone/>
            </a:pPr>
            <a:r>
              <a:rPr lang="en-US" sz="1300" b="1" dirty="0">
                <a:solidFill>
                  <a:srgbClr val="D4A843"/>
                </a:solidFill>
                <a:latin typeface="黑体" panose="02010609060101010101" pitchFamily="34" charset="-122"/>
                <a:ea typeface="黑体" panose="02010609060101010101" pitchFamily="34" charset="-122"/>
                <a:cs typeface="黑体" panose="02010609060101010101" pitchFamily="34" charset="-120"/>
              </a:rPr>
              <a:t>中孟案例对应体现</a:t>
            </a:r>
            <a:endParaRPr lang="en-US" sz="1300" dirty="0"/>
          </a:p>
        </p:txBody>
      </p:sp>
      <p:sp>
        <p:nvSpPr>
          <p:cNvPr id="10" name="Shape 8"/>
          <p:cNvSpPr/>
          <p:nvPr/>
        </p:nvSpPr>
        <p:spPr>
          <a:xfrm>
            <a:off x="731520" y="1691640"/>
            <a:ext cx="2560320" cy="594360"/>
          </a:xfrm>
          <a:prstGeom prst="rect">
            <a:avLst/>
          </a:prstGeom>
          <a:solidFill>
            <a:srgbClr val="8B1A2B"/>
          </a:solidFill>
        </p:spPr>
      </p:sp>
      <p:sp>
        <p:nvSpPr>
          <p:cNvPr id="11" name="Text 9"/>
          <p:cNvSpPr/>
          <p:nvPr/>
        </p:nvSpPr>
        <p:spPr>
          <a:xfrm>
            <a:off x="914400" y="1691640"/>
            <a:ext cx="2194560" cy="594360"/>
          </a:xfrm>
          <a:prstGeom prst="rect">
            <a:avLst/>
          </a:prstGeom>
          <a:noFill/>
        </p:spPr>
        <p:txBody>
          <a:bodyPr wrap="square" lIns="0" tIns="0" rIns="0" bIns="0" rtlCol="0" anchor="ctr"/>
          <a:lstStyle/>
          <a:p>
            <a:pPr marL="0" indent="0">
              <a:buNone/>
            </a:pPr>
            <a:r>
              <a:rPr lang="en-US" sz="1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新型国际关系</a:t>
            </a:r>
            <a:endParaRPr lang="en-US" sz="1200" dirty="0"/>
          </a:p>
        </p:txBody>
      </p:sp>
      <p:sp>
        <p:nvSpPr>
          <p:cNvPr id="12" name="Shape 10"/>
          <p:cNvSpPr/>
          <p:nvPr/>
        </p:nvSpPr>
        <p:spPr>
          <a:xfrm>
            <a:off x="3474720" y="1691640"/>
            <a:ext cx="4937760" cy="594360"/>
          </a:xfrm>
          <a:prstGeom prst="rect">
            <a:avLst/>
          </a:prstGeom>
          <a:solidFill>
            <a:srgbClr val="8B1A2B"/>
          </a:solidFill>
        </p:spPr>
      </p:sp>
      <p:sp>
        <p:nvSpPr>
          <p:cNvPr id="13" name="Text 11"/>
          <p:cNvSpPr/>
          <p:nvPr/>
        </p:nvSpPr>
        <p:spPr>
          <a:xfrm>
            <a:off x="3657600" y="1691640"/>
            <a:ext cx="4572000" cy="594360"/>
          </a:xfrm>
          <a:prstGeom prst="rect">
            <a:avLst/>
          </a:prstGeom>
          <a:noFill/>
        </p:spPr>
        <p:txBody>
          <a:bodyPr wrap="square" lIns="0" tIns="0" rIns="0" bIns="0" rtlCol="0" anchor="ctr"/>
          <a:lstStyle/>
          <a:p>
            <a:pPr marL="0" indent="0">
              <a:buNone/>
            </a:pPr>
            <a:r>
              <a:rPr lang="en-US" sz="11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  相互尊重、平等互利的双边关系</a:t>
            </a:r>
            <a:endParaRPr lang="en-US" sz="1100" dirty="0"/>
          </a:p>
        </p:txBody>
      </p:sp>
      <p:sp>
        <p:nvSpPr>
          <p:cNvPr id="14" name="Shape 12"/>
          <p:cNvSpPr/>
          <p:nvPr/>
        </p:nvSpPr>
        <p:spPr>
          <a:xfrm>
            <a:off x="731520" y="2286000"/>
            <a:ext cx="2560320" cy="594360"/>
          </a:xfrm>
          <a:prstGeom prst="rect">
            <a:avLst/>
          </a:prstGeom>
          <a:solidFill>
            <a:srgbClr val="C41E3A"/>
          </a:solidFill>
        </p:spPr>
      </p:sp>
      <p:sp>
        <p:nvSpPr>
          <p:cNvPr id="15" name="Text 13"/>
          <p:cNvSpPr/>
          <p:nvPr/>
        </p:nvSpPr>
        <p:spPr>
          <a:xfrm>
            <a:off x="914400" y="2286000"/>
            <a:ext cx="2194560" cy="594360"/>
          </a:xfrm>
          <a:prstGeom prst="rect">
            <a:avLst/>
          </a:prstGeom>
          <a:noFill/>
        </p:spPr>
        <p:txBody>
          <a:bodyPr wrap="square" lIns="0" tIns="0" rIns="0" bIns="0" rtlCol="0" anchor="ctr"/>
          <a:lstStyle/>
          <a:p>
            <a:pPr marL="0" indent="0">
              <a:buNone/>
            </a:pPr>
            <a:r>
              <a:rPr lang="en-US" sz="1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一带一路高质量发展</a:t>
            </a:r>
            <a:endParaRPr lang="en-US" sz="1200" dirty="0"/>
          </a:p>
        </p:txBody>
      </p:sp>
      <p:sp>
        <p:nvSpPr>
          <p:cNvPr id="16" name="Shape 14"/>
          <p:cNvSpPr/>
          <p:nvPr/>
        </p:nvSpPr>
        <p:spPr>
          <a:xfrm>
            <a:off x="3474720" y="2286000"/>
            <a:ext cx="4937760" cy="594360"/>
          </a:xfrm>
          <a:prstGeom prst="rect">
            <a:avLst/>
          </a:prstGeom>
          <a:solidFill>
            <a:srgbClr val="C41E3A"/>
          </a:solidFill>
        </p:spPr>
      </p:sp>
      <p:sp>
        <p:nvSpPr>
          <p:cNvPr id="17" name="Text 15"/>
          <p:cNvSpPr/>
          <p:nvPr/>
        </p:nvSpPr>
        <p:spPr>
          <a:xfrm>
            <a:off x="3657600" y="2286000"/>
            <a:ext cx="4572000" cy="594360"/>
          </a:xfrm>
          <a:prstGeom prst="rect">
            <a:avLst/>
          </a:prstGeom>
          <a:noFill/>
        </p:spPr>
        <p:txBody>
          <a:bodyPr wrap="square" lIns="0" tIns="0" rIns="0" bIns="0" rtlCol="0" anchor="ctr"/>
          <a:lstStyle/>
          <a:p>
            <a:pPr marL="0" indent="0">
              <a:buNone/>
            </a:pPr>
            <a:r>
              <a:rPr lang="en-US" sz="11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  港口、水利、基建项目合作，中缅孟经济走廊</a:t>
            </a:r>
            <a:endParaRPr lang="en-US" sz="1100" dirty="0"/>
          </a:p>
        </p:txBody>
      </p:sp>
      <p:sp>
        <p:nvSpPr>
          <p:cNvPr id="18" name="Shape 16"/>
          <p:cNvSpPr/>
          <p:nvPr/>
        </p:nvSpPr>
        <p:spPr>
          <a:xfrm>
            <a:off x="731520" y="2880360"/>
            <a:ext cx="2560320" cy="594360"/>
          </a:xfrm>
          <a:prstGeom prst="rect">
            <a:avLst/>
          </a:prstGeom>
          <a:solidFill>
            <a:srgbClr val="8B1A2B"/>
          </a:solidFill>
        </p:spPr>
      </p:sp>
      <p:sp>
        <p:nvSpPr>
          <p:cNvPr id="19" name="Text 17"/>
          <p:cNvSpPr/>
          <p:nvPr/>
        </p:nvSpPr>
        <p:spPr>
          <a:xfrm>
            <a:off x="914400" y="2880360"/>
            <a:ext cx="2194560" cy="594360"/>
          </a:xfrm>
          <a:prstGeom prst="rect">
            <a:avLst/>
          </a:prstGeom>
          <a:noFill/>
        </p:spPr>
        <p:txBody>
          <a:bodyPr wrap="square" lIns="0" tIns="0" rIns="0" bIns="0" rtlCol="0" anchor="ctr"/>
          <a:lstStyle/>
          <a:p>
            <a:pPr marL="0" indent="0">
              <a:buNone/>
            </a:pPr>
            <a:r>
              <a:rPr lang="en-US" sz="1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人类命运共同体</a:t>
            </a:r>
            <a:endParaRPr lang="en-US" sz="1200" dirty="0"/>
          </a:p>
        </p:txBody>
      </p:sp>
      <p:sp>
        <p:nvSpPr>
          <p:cNvPr id="20" name="Shape 18"/>
          <p:cNvSpPr/>
          <p:nvPr/>
        </p:nvSpPr>
        <p:spPr>
          <a:xfrm>
            <a:off x="3474720" y="2880360"/>
            <a:ext cx="4937760" cy="594360"/>
          </a:xfrm>
          <a:prstGeom prst="rect">
            <a:avLst/>
          </a:prstGeom>
          <a:solidFill>
            <a:srgbClr val="8B1A2B"/>
          </a:solidFill>
        </p:spPr>
      </p:sp>
      <p:sp>
        <p:nvSpPr>
          <p:cNvPr id="21" name="Text 19"/>
          <p:cNvSpPr/>
          <p:nvPr/>
        </p:nvSpPr>
        <p:spPr>
          <a:xfrm>
            <a:off x="3657600" y="2880360"/>
            <a:ext cx="4572000" cy="594360"/>
          </a:xfrm>
          <a:prstGeom prst="rect">
            <a:avLst/>
          </a:prstGeom>
          <a:noFill/>
        </p:spPr>
        <p:txBody>
          <a:bodyPr wrap="square" lIns="0" tIns="0" rIns="0" bIns="0" rtlCol="0" anchor="ctr"/>
          <a:lstStyle/>
          <a:p>
            <a:pPr marL="0" indent="0">
              <a:buNone/>
            </a:pPr>
            <a:r>
              <a:rPr lang="en-US" sz="11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  正式宣布构建"新时代中孟命运共同体"</a:t>
            </a:r>
            <a:endParaRPr lang="en-US" sz="1100" dirty="0"/>
          </a:p>
        </p:txBody>
      </p:sp>
      <p:sp>
        <p:nvSpPr>
          <p:cNvPr id="22" name="Shape 20"/>
          <p:cNvSpPr/>
          <p:nvPr/>
        </p:nvSpPr>
        <p:spPr>
          <a:xfrm>
            <a:off x="731520" y="3474720"/>
            <a:ext cx="2560320" cy="594360"/>
          </a:xfrm>
          <a:prstGeom prst="rect">
            <a:avLst/>
          </a:prstGeom>
          <a:solidFill>
            <a:srgbClr val="C41E3A"/>
          </a:solidFill>
        </p:spPr>
      </p:sp>
      <p:sp>
        <p:nvSpPr>
          <p:cNvPr id="23" name="Text 21"/>
          <p:cNvSpPr/>
          <p:nvPr/>
        </p:nvSpPr>
        <p:spPr>
          <a:xfrm>
            <a:off x="914400" y="3474720"/>
            <a:ext cx="2194560" cy="594360"/>
          </a:xfrm>
          <a:prstGeom prst="rect">
            <a:avLst/>
          </a:prstGeom>
          <a:noFill/>
        </p:spPr>
        <p:txBody>
          <a:bodyPr wrap="square" lIns="0" tIns="0" rIns="0" bIns="0" rtlCol="0" anchor="ctr"/>
          <a:lstStyle/>
          <a:p>
            <a:pPr marL="0" indent="0">
              <a:buNone/>
            </a:pPr>
            <a:r>
              <a:rPr lang="en-US" sz="1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全球南方合作</a:t>
            </a:r>
            <a:endParaRPr lang="en-US" sz="1200" dirty="0"/>
          </a:p>
        </p:txBody>
      </p:sp>
      <p:sp>
        <p:nvSpPr>
          <p:cNvPr id="24" name="Shape 22"/>
          <p:cNvSpPr/>
          <p:nvPr/>
        </p:nvSpPr>
        <p:spPr>
          <a:xfrm>
            <a:off x="3474720" y="3474720"/>
            <a:ext cx="4937760" cy="594360"/>
          </a:xfrm>
          <a:prstGeom prst="rect">
            <a:avLst/>
          </a:prstGeom>
          <a:solidFill>
            <a:srgbClr val="C41E3A"/>
          </a:solidFill>
        </p:spPr>
      </p:sp>
      <p:sp>
        <p:nvSpPr>
          <p:cNvPr id="25" name="Text 23"/>
          <p:cNvSpPr/>
          <p:nvPr/>
        </p:nvSpPr>
        <p:spPr>
          <a:xfrm>
            <a:off x="3657600" y="3474720"/>
            <a:ext cx="4572000" cy="594360"/>
          </a:xfrm>
          <a:prstGeom prst="rect">
            <a:avLst/>
          </a:prstGeom>
          <a:noFill/>
        </p:spPr>
        <p:txBody>
          <a:bodyPr wrap="square" lIns="0" tIns="0" rIns="0" bIns="0" rtlCol="0" anchor="ctr"/>
          <a:lstStyle/>
          <a:p>
            <a:pPr marL="0" indent="0">
              <a:buNone/>
            </a:pPr>
            <a:r>
              <a:rPr lang="en-US" sz="11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  在联合国协调立场，维护发展中国家利益</a:t>
            </a:r>
            <a:endParaRPr lang="en-US" sz="1100" dirty="0"/>
          </a:p>
        </p:txBody>
      </p:sp>
      <p:sp>
        <p:nvSpPr>
          <p:cNvPr id="26" name="Shape 24"/>
          <p:cNvSpPr/>
          <p:nvPr/>
        </p:nvSpPr>
        <p:spPr>
          <a:xfrm>
            <a:off x="731520" y="4069080"/>
            <a:ext cx="2560320" cy="594360"/>
          </a:xfrm>
          <a:prstGeom prst="rect">
            <a:avLst/>
          </a:prstGeom>
          <a:solidFill>
            <a:srgbClr val="8B1A2B"/>
          </a:solidFill>
        </p:spPr>
      </p:sp>
      <p:sp>
        <p:nvSpPr>
          <p:cNvPr id="27" name="Text 25"/>
          <p:cNvSpPr/>
          <p:nvPr/>
        </p:nvSpPr>
        <p:spPr>
          <a:xfrm>
            <a:off x="914400" y="4069080"/>
            <a:ext cx="2194560" cy="594360"/>
          </a:xfrm>
          <a:prstGeom prst="rect">
            <a:avLst/>
          </a:prstGeom>
          <a:noFill/>
        </p:spPr>
        <p:txBody>
          <a:bodyPr wrap="square" lIns="0" tIns="0" rIns="0" bIns="0" rtlCol="0" anchor="ctr"/>
          <a:lstStyle/>
          <a:p>
            <a:pPr marL="0" indent="0">
              <a:buNone/>
            </a:pPr>
            <a:r>
              <a:rPr lang="en-US" sz="1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和平发展道路</a:t>
            </a:r>
            <a:endParaRPr lang="en-US" sz="1200" dirty="0"/>
          </a:p>
        </p:txBody>
      </p:sp>
      <p:sp>
        <p:nvSpPr>
          <p:cNvPr id="28" name="Shape 26"/>
          <p:cNvSpPr/>
          <p:nvPr/>
        </p:nvSpPr>
        <p:spPr>
          <a:xfrm>
            <a:off x="3474720" y="4069080"/>
            <a:ext cx="4937760" cy="594360"/>
          </a:xfrm>
          <a:prstGeom prst="rect">
            <a:avLst/>
          </a:prstGeom>
          <a:solidFill>
            <a:srgbClr val="8B1A2B"/>
          </a:solidFill>
        </p:spPr>
      </p:sp>
      <p:sp>
        <p:nvSpPr>
          <p:cNvPr id="29" name="Text 27"/>
          <p:cNvSpPr/>
          <p:nvPr/>
        </p:nvSpPr>
        <p:spPr>
          <a:xfrm>
            <a:off x="3657600" y="4069080"/>
            <a:ext cx="4572000" cy="594360"/>
          </a:xfrm>
          <a:prstGeom prst="rect">
            <a:avLst/>
          </a:prstGeom>
          <a:noFill/>
        </p:spPr>
        <p:txBody>
          <a:bodyPr wrap="square" lIns="0" tIns="0" rIns="0" bIns="0" rtlCol="0" anchor="ctr"/>
          <a:lstStyle/>
          <a:p>
            <a:pPr marL="0" indent="0">
              <a:buNone/>
            </a:pPr>
            <a:r>
              <a:rPr lang="en-US" sz="11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  对话协商解决分歧，不干涉内政</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5E6"/>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C41E3A"/>
          </a:solidFill>
        </p:spPr>
      </p:sp>
      <p:sp>
        <p:nvSpPr>
          <p:cNvPr id="3" name="Shape 1"/>
          <p:cNvSpPr/>
          <p:nvPr/>
        </p:nvSpPr>
        <p:spPr>
          <a:xfrm>
            <a:off x="0" y="1234440"/>
            <a:ext cx="9144000" cy="36576"/>
          </a:xfrm>
          <a:prstGeom prst="rect">
            <a:avLst/>
          </a:prstGeom>
          <a:solidFill>
            <a:srgbClr val="D4A843"/>
          </a:solidFill>
        </p:spPr>
      </p:sp>
      <p:sp>
        <p:nvSpPr>
          <p:cNvPr id="4" name="Text 2"/>
          <p:cNvSpPr/>
          <p:nvPr/>
        </p:nvSpPr>
        <p:spPr>
          <a:xfrm>
            <a:off x="731520" y="182880"/>
            <a:ext cx="7680960" cy="640080"/>
          </a:xfrm>
          <a:prstGeom prst="rect">
            <a:avLst/>
          </a:prstGeom>
          <a:noFill/>
        </p:spPr>
        <p:txBody>
          <a:bodyPr wrap="square" lIns="0" tIns="0" rIns="0" bIns="0" rtlCol="0" anchor="ctr"/>
          <a:lstStyle/>
          <a:p>
            <a:pPr marL="0" indent="0">
              <a:buNone/>
            </a:pPr>
            <a:r>
              <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个人思考与启发（一）</a:t>
            </a:r>
            <a:endParaRPr lang="en-US" sz="3000" dirty="0"/>
          </a:p>
        </p:txBody>
      </p:sp>
      <p:sp>
        <p:nvSpPr>
          <p:cNvPr id="5" name="Text 3"/>
          <p:cNvSpPr/>
          <p:nvPr/>
        </p:nvSpPr>
        <p:spPr>
          <a:xfrm>
            <a:off x="731520" y="731520"/>
            <a:ext cx="7680960" cy="365760"/>
          </a:xfrm>
          <a:prstGeom prst="rect">
            <a:avLst/>
          </a:prstGeom>
          <a:noFill/>
        </p:spPr>
        <p:txBody>
          <a:bodyPr wrap="square" lIns="0" tIns="0" rIns="0" bIns="0" rtlCol="0" anchor="ctr"/>
          <a:lstStyle/>
          <a:p>
            <a:pPr marL="0" indent="0">
              <a:buNone/>
            </a:pPr>
            <a:r>
              <a:rPr lang="en-US" sz="1400" dirty="0">
                <a:solidFill>
                  <a:srgbClr val="D4A843"/>
                </a:solidFill>
                <a:latin typeface="微软雅黑" panose="020B0503020204020204" pitchFamily="34" charset="-122"/>
                <a:ea typeface="微软雅黑" panose="020B0503020204020204" pitchFamily="34" charset="-122"/>
                <a:cs typeface="微软雅黑" panose="020B0503020204020204" pitchFamily="34" charset="-120"/>
              </a:rPr>
              <a:t>从"旁观者"到"参与者"</a:t>
            </a:r>
            <a:endParaRPr lang="en-US" sz="1400" dirty="0"/>
          </a:p>
        </p:txBody>
      </p:sp>
      <p:sp>
        <p:nvSpPr>
          <p:cNvPr id="6" name="Shape 4"/>
          <p:cNvSpPr/>
          <p:nvPr/>
        </p:nvSpPr>
        <p:spPr>
          <a:xfrm>
            <a:off x="0" y="4892040"/>
            <a:ext cx="9144000" cy="27432"/>
          </a:xfrm>
          <a:prstGeom prst="rect">
            <a:avLst/>
          </a:prstGeom>
          <a:solidFill>
            <a:srgbClr val="C41E3A"/>
          </a:solidFill>
        </p:spPr>
      </p:sp>
      <p:sp>
        <p:nvSpPr>
          <p:cNvPr id="7" name="Shape 5"/>
          <p:cNvSpPr/>
          <p:nvPr/>
        </p:nvSpPr>
        <p:spPr>
          <a:xfrm>
            <a:off x="0" y="4919472"/>
            <a:ext cx="9144000" cy="224028"/>
          </a:xfrm>
          <a:prstGeom prst="rect">
            <a:avLst/>
          </a:prstGeom>
          <a:solidFill>
            <a:srgbClr val="C41E3A"/>
          </a:solidFill>
        </p:spPr>
      </p:sp>
      <p:sp>
        <p:nvSpPr>
          <p:cNvPr id="8" name="Text 6"/>
          <p:cNvSpPr/>
          <p:nvPr/>
        </p:nvSpPr>
        <p:spPr>
          <a:xfrm>
            <a:off x="8046720" y="4919472"/>
            <a:ext cx="914400" cy="224028"/>
          </a:xfrm>
          <a:prstGeom prst="rect">
            <a:avLst/>
          </a:prstGeom>
          <a:noFill/>
        </p:spPr>
        <p:txBody>
          <a:bodyPr wrap="square" lIns="0" tIns="0" rIns="0" bIns="0" rtlCol="0" anchor="ctr"/>
          <a:lstStyle/>
          <a:p>
            <a:pPr marL="0" indent="0" algn="r">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11</a:t>
            </a:r>
            <a:endParaRPr lang="en-US" sz="1000" dirty="0"/>
          </a:p>
        </p:txBody>
      </p:sp>
      <p:sp>
        <p:nvSpPr>
          <p:cNvPr id="9" name="Text 7"/>
          <p:cNvSpPr/>
          <p:nvPr/>
        </p:nvSpPr>
        <p:spPr>
          <a:xfrm>
            <a:off x="457200" y="4919472"/>
            <a:ext cx="4572000" cy="224028"/>
          </a:xfrm>
          <a:prstGeom prst="rect">
            <a:avLst/>
          </a:prstGeom>
          <a:noFill/>
        </p:spPr>
        <p:txBody>
          <a:bodyPr wrap="square" lIns="0" tIns="0" rIns="0" bIns="0" rtlCol="0" anchor="ctr"/>
          <a:lstStyle/>
          <a:p>
            <a:pPr marL="0" indent="0">
              <a:buNone/>
            </a:pPr>
            <a:r>
              <a:rPr lang="en-US" sz="9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习概第16章 · 中国特色大国外交</a:t>
            </a:r>
            <a:endParaRPr lang="en-US" sz="900" dirty="0"/>
          </a:p>
        </p:txBody>
      </p:sp>
      <p:sp>
        <p:nvSpPr>
          <p:cNvPr id="10" name="Shape 8"/>
          <p:cNvSpPr/>
          <p:nvPr/>
        </p:nvSpPr>
        <p:spPr>
          <a:xfrm>
            <a:off x="457200" y="1554480"/>
            <a:ext cx="3977640" cy="3017520"/>
          </a:xfrm>
          <a:prstGeom prst="rect">
            <a:avLst/>
          </a:prstGeom>
          <a:solidFill>
            <a:srgbClr val="FFFFFF"/>
          </a:solidFill>
          <a:effectLst>
            <a:outerShdw blurRad="50800" dist="25400" dir="8100000" algn="bl" rotWithShape="0">
              <a:srgbClr val="000000">
                <a:alpha val="10000"/>
              </a:srgbClr>
            </a:outerShdw>
          </a:effectLst>
        </p:spPr>
      </p:sp>
      <p:sp>
        <p:nvSpPr>
          <p:cNvPr id="11" name="Shape 9"/>
          <p:cNvSpPr/>
          <p:nvPr/>
        </p:nvSpPr>
        <p:spPr>
          <a:xfrm>
            <a:off x="457200" y="1554480"/>
            <a:ext cx="54864" cy="3017520"/>
          </a:xfrm>
          <a:prstGeom prst="rect">
            <a:avLst/>
          </a:prstGeom>
          <a:solidFill>
            <a:srgbClr val="D4A843"/>
          </a:solidFill>
        </p:spPr>
      </p:sp>
      <p:sp>
        <p:nvSpPr>
          <p:cNvPr id="12" name="Text 10"/>
          <p:cNvSpPr/>
          <p:nvPr/>
        </p:nvSpPr>
        <p:spPr>
          <a:xfrm>
            <a:off x="731520" y="1691640"/>
            <a:ext cx="3429000" cy="365760"/>
          </a:xfrm>
          <a:prstGeom prst="rect">
            <a:avLst/>
          </a:prstGeom>
          <a:noFill/>
        </p:spPr>
        <p:txBody>
          <a:bodyPr wrap="square" lIns="0" tIns="0" rIns="0" bIns="0" rtlCol="0" anchor="ctr"/>
          <a:lstStyle/>
          <a:p>
            <a:pPr marL="0" indent="0">
              <a:buNone/>
            </a:pPr>
            <a:r>
              <a:rPr lang="en-US" sz="1600" b="1" dirty="0">
                <a:solidFill>
                  <a:srgbClr val="C41E3A"/>
                </a:solidFill>
                <a:latin typeface="黑体" panose="02010609060101010101" pitchFamily="34" charset="-122"/>
                <a:ea typeface="黑体" panose="02010609060101010101" pitchFamily="34" charset="-122"/>
                <a:cs typeface="黑体" panose="02010609060101010101" pitchFamily="34" charset="-120"/>
              </a:rPr>
              <a:t>以前的认知</a:t>
            </a:r>
            <a:endParaRPr lang="en-US" sz="1600" dirty="0"/>
          </a:p>
        </p:txBody>
      </p:sp>
      <p:sp>
        <p:nvSpPr>
          <p:cNvPr id="13" name="Text 11"/>
          <p:cNvSpPr/>
          <p:nvPr/>
        </p:nvSpPr>
        <p:spPr>
          <a:xfrm>
            <a:off x="731520" y="2148840"/>
            <a:ext cx="3429000" cy="1188720"/>
          </a:xfrm>
          <a:prstGeom prst="rect">
            <a:avLst/>
          </a:prstGeom>
          <a:noFill/>
        </p:spPr>
        <p:txBody>
          <a:bodyPr wrap="square" lIns="0" tIns="0" rIns="0" bIns="0" rtlCol="0" anchor="t"/>
          <a:lstStyle/>
          <a:p>
            <a:pPr marL="0" indent="0">
              <a:lnSpc>
                <a:spcPct val="130000"/>
              </a:lnSpc>
              <a:buNone/>
            </a:pPr>
            <a:r>
              <a:rPr lang="en-US" sz="12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觉得外交离自己很远，是大国之间的博弈，</a:t>
            </a:r>
            <a:endParaRPr lang="en-US" sz="1200" dirty="0"/>
          </a:p>
          <a:p>
            <a:pPr marL="0" indent="0">
              <a:lnSpc>
                <a:spcPct val="130000"/>
              </a:lnSpc>
              <a:buNone/>
            </a:pPr>
            <a:r>
              <a:rPr lang="en-US" sz="12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是国家领导人的事，跟普通人没什么关系。</a:t>
            </a:r>
            <a:endParaRPr lang="en-US" sz="1200" dirty="0"/>
          </a:p>
          <a:p>
            <a:pPr marL="0" indent="0">
              <a:lnSpc>
                <a:spcPct val="130000"/>
              </a:lnSpc>
              <a:buNone/>
            </a:pPr>
            <a:endParaRPr lang="en-US" sz="1200" dirty="0"/>
          </a:p>
          <a:p>
            <a:pPr marL="0" indent="0">
              <a:lnSpc>
                <a:spcPct val="130000"/>
              </a:lnSpc>
              <a:buNone/>
            </a:pPr>
            <a:r>
              <a:rPr lang="en-US" sz="1100" i="1"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 把"外交"等同于"新闻联播里的会见"</a:t>
            </a:r>
            <a:endParaRPr lang="en-US" sz="1200" dirty="0"/>
          </a:p>
        </p:txBody>
      </p:sp>
      <p:sp>
        <p:nvSpPr>
          <p:cNvPr id="14" name="Text 12"/>
          <p:cNvSpPr/>
          <p:nvPr/>
        </p:nvSpPr>
        <p:spPr>
          <a:xfrm>
            <a:off x="731520" y="3337560"/>
            <a:ext cx="3429000" cy="365760"/>
          </a:xfrm>
          <a:prstGeom prst="rect">
            <a:avLst/>
          </a:prstGeom>
          <a:noFill/>
        </p:spPr>
        <p:txBody>
          <a:bodyPr wrap="square" lIns="0" tIns="0" rIns="0" bIns="0" rtlCol="0" anchor="ctr"/>
          <a:lstStyle/>
          <a:p>
            <a:pPr marL="0" indent="0" algn="ctr">
              <a:buNone/>
            </a:pPr>
            <a:r>
              <a:rPr lang="en-US" sz="2400" dirty="0">
                <a:solidFill>
                  <a:srgbClr val="C41E3A"/>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2400" dirty="0"/>
          </a:p>
        </p:txBody>
      </p:sp>
      <p:sp>
        <p:nvSpPr>
          <p:cNvPr id="15" name="Text 13"/>
          <p:cNvSpPr/>
          <p:nvPr/>
        </p:nvSpPr>
        <p:spPr>
          <a:xfrm>
            <a:off x="731520" y="3611880"/>
            <a:ext cx="3429000" cy="320040"/>
          </a:xfrm>
          <a:prstGeom prst="rect">
            <a:avLst/>
          </a:prstGeom>
          <a:noFill/>
        </p:spPr>
        <p:txBody>
          <a:bodyPr wrap="square" lIns="0" tIns="0" rIns="0" bIns="0" rtlCol="0" anchor="ctr"/>
          <a:lstStyle/>
          <a:p>
            <a:pPr marL="0" indent="0">
              <a:buNone/>
            </a:pPr>
            <a:r>
              <a:rPr lang="en-US" sz="1600" b="1" dirty="0">
                <a:solidFill>
                  <a:srgbClr val="C41E3A"/>
                </a:solidFill>
                <a:latin typeface="黑体" panose="02010609060101010101" pitchFamily="34" charset="-122"/>
                <a:ea typeface="黑体" panose="02010609060101010101" pitchFamily="34" charset="-122"/>
                <a:cs typeface="黑体" panose="02010609060101010101" pitchFamily="34" charset="-120"/>
              </a:rPr>
              <a:t>现在的理解</a:t>
            </a:r>
            <a:endParaRPr lang="en-US" sz="1600" dirty="0"/>
          </a:p>
        </p:txBody>
      </p:sp>
      <p:sp>
        <p:nvSpPr>
          <p:cNvPr id="16" name="Text 14"/>
          <p:cNvSpPr/>
          <p:nvPr/>
        </p:nvSpPr>
        <p:spPr>
          <a:xfrm>
            <a:off x="731520" y="3931920"/>
            <a:ext cx="3429000" cy="914400"/>
          </a:xfrm>
          <a:prstGeom prst="rect">
            <a:avLst/>
          </a:prstGeom>
          <a:noFill/>
        </p:spPr>
        <p:txBody>
          <a:bodyPr wrap="square" lIns="0" tIns="0" rIns="0" bIns="0" rtlCol="0" anchor="t"/>
          <a:lstStyle/>
          <a:p>
            <a:pPr marL="0" indent="0">
              <a:lnSpc>
                <a:spcPct val="140000"/>
              </a:lnSpc>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一带一路带来的进口商品、留学生交流、中国企业在海外的项目，实际上都影响着我们的日常生活。全球化时代，每个人都是国家外交的"受益者"和"名片"。</a:t>
            </a:r>
            <a:endParaRPr lang="en-US" sz="1100" dirty="0"/>
          </a:p>
        </p:txBody>
      </p:sp>
      <p:sp>
        <p:nvSpPr>
          <p:cNvPr id="17" name="Shape 15"/>
          <p:cNvSpPr/>
          <p:nvPr/>
        </p:nvSpPr>
        <p:spPr>
          <a:xfrm>
            <a:off x="4709160" y="1554480"/>
            <a:ext cx="3977640" cy="3017520"/>
          </a:xfrm>
          <a:prstGeom prst="rect">
            <a:avLst/>
          </a:prstGeom>
          <a:solidFill>
            <a:srgbClr val="FFFFFF"/>
          </a:solidFill>
          <a:effectLst>
            <a:outerShdw blurRad="50800" dist="25400" dir="8100000" algn="bl" rotWithShape="0">
              <a:srgbClr val="000000">
                <a:alpha val="10000"/>
              </a:srgbClr>
            </a:outerShdw>
          </a:effectLst>
        </p:spPr>
      </p:sp>
      <p:sp>
        <p:nvSpPr>
          <p:cNvPr id="18" name="Shape 16"/>
          <p:cNvSpPr/>
          <p:nvPr/>
        </p:nvSpPr>
        <p:spPr>
          <a:xfrm>
            <a:off x="4709160" y="1554480"/>
            <a:ext cx="54864" cy="3017520"/>
          </a:xfrm>
          <a:prstGeom prst="rect">
            <a:avLst/>
          </a:prstGeom>
          <a:solidFill>
            <a:srgbClr val="D4A843"/>
          </a:solidFill>
        </p:spPr>
      </p:sp>
      <p:sp>
        <p:nvSpPr>
          <p:cNvPr id="19" name="Text 17"/>
          <p:cNvSpPr/>
          <p:nvPr/>
        </p:nvSpPr>
        <p:spPr>
          <a:xfrm>
            <a:off x="4983480" y="1691640"/>
            <a:ext cx="3429000" cy="365760"/>
          </a:xfrm>
          <a:prstGeom prst="rect">
            <a:avLst/>
          </a:prstGeom>
          <a:noFill/>
        </p:spPr>
        <p:txBody>
          <a:bodyPr wrap="square" lIns="0" tIns="0" rIns="0" bIns="0" rtlCol="0" anchor="ctr"/>
          <a:lstStyle/>
          <a:p>
            <a:pPr marL="0" indent="0" algn="ctr">
              <a:buNone/>
            </a:pPr>
            <a:r>
              <a:rPr lang="en-US" sz="1800" b="1" dirty="0">
                <a:solidFill>
                  <a:srgbClr val="C41E3A"/>
                </a:solidFill>
                <a:latin typeface="黑体" panose="02010609060101010101" pitchFamily="34" charset="-122"/>
                <a:ea typeface="黑体" panose="02010609060101010101" pitchFamily="34" charset="-122"/>
                <a:cs typeface="黑体" panose="02010609060101010101" pitchFamily="34" charset="-120"/>
              </a:rPr>
              <a:t>核心感悟</a:t>
            </a:r>
            <a:endParaRPr lang="en-US" sz="1800" dirty="0"/>
          </a:p>
        </p:txBody>
      </p:sp>
      <p:sp>
        <p:nvSpPr>
          <p:cNvPr id="20" name="Shape 18"/>
          <p:cNvSpPr/>
          <p:nvPr/>
        </p:nvSpPr>
        <p:spPr>
          <a:xfrm>
            <a:off x="5623560" y="2057400"/>
            <a:ext cx="2148840" cy="18288"/>
          </a:xfrm>
          <a:prstGeom prst="rect">
            <a:avLst/>
          </a:prstGeom>
          <a:solidFill>
            <a:srgbClr val="D4A843"/>
          </a:solidFill>
        </p:spPr>
      </p:sp>
      <p:sp>
        <p:nvSpPr>
          <p:cNvPr id="21" name="Shape 19"/>
          <p:cNvSpPr/>
          <p:nvPr/>
        </p:nvSpPr>
        <p:spPr>
          <a:xfrm>
            <a:off x="5074920" y="2286000"/>
            <a:ext cx="164592" cy="164592"/>
          </a:xfrm>
          <a:prstGeom prst="ellipse">
            <a:avLst/>
          </a:prstGeom>
          <a:solidFill>
            <a:srgbClr val="D4A843"/>
          </a:solidFill>
        </p:spPr>
      </p:sp>
      <p:sp>
        <p:nvSpPr>
          <p:cNvPr id="22" name="Text 20"/>
          <p:cNvSpPr/>
          <p:nvPr/>
        </p:nvSpPr>
        <p:spPr>
          <a:xfrm>
            <a:off x="5349240" y="2240280"/>
            <a:ext cx="3063240" cy="777240"/>
          </a:xfrm>
          <a:prstGeom prst="rect">
            <a:avLst/>
          </a:prstGeom>
          <a:noFill/>
        </p:spPr>
        <p:txBody>
          <a:bodyPr wrap="square" lIns="0" tIns="0" rIns="0" bIns="0" rtlCol="0" anchor="t"/>
          <a:lstStyle/>
          <a:p>
            <a:pPr marL="0" indent="0">
              <a:lnSpc>
                <a:spcPct val="130000"/>
              </a:lnSpc>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外交不是虚无缥缈的宏大叙事，而是由一个个具体的合作项目、一次次真实的文明交流构成的。</a:t>
            </a:r>
            <a:endParaRPr lang="en-US" sz="1100" dirty="0"/>
          </a:p>
        </p:txBody>
      </p:sp>
      <p:sp>
        <p:nvSpPr>
          <p:cNvPr id="23" name="Shape 21"/>
          <p:cNvSpPr/>
          <p:nvPr/>
        </p:nvSpPr>
        <p:spPr>
          <a:xfrm>
            <a:off x="5074920" y="3154680"/>
            <a:ext cx="164592" cy="164592"/>
          </a:xfrm>
          <a:prstGeom prst="ellipse">
            <a:avLst/>
          </a:prstGeom>
          <a:solidFill>
            <a:srgbClr val="D4A843"/>
          </a:solidFill>
        </p:spPr>
      </p:sp>
      <p:sp>
        <p:nvSpPr>
          <p:cNvPr id="24" name="Text 22"/>
          <p:cNvSpPr/>
          <p:nvPr/>
        </p:nvSpPr>
        <p:spPr>
          <a:xfrm>
            <a:off x="5349240" y="3108960"/>
            <a:ext cx="3063240" cy="777240"/>
          </a:xfrm>
          <a:prstGeom prst="rect">
            <a:avLst/>
          </a:prstGeom>
          <a:noFill/>
        </p:spPr>
        <p:txBody>
          <a:bodyPr wrap="square" lIns="0" tIns="0" rIns="0" bIns="0" rtlCol="0" anchor="t"/>
          <a:lstStyle/>
          <a:p>
            <a:pPr marL="0" indent="0">
              <a:lnSpc>
                <a:spcPct val="130000"/>
              </a:lnSpc>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作为新时代大学生，我们既是国家发展的受益者，也是国家形象的塑造者。</a:t>
            </a:r>
            <a:endParaRPr lang="en-US" sz="1100" dirty="0"/>
          </a:p>
        </p:txBody>
      </p:sp>
      <p:sp>
        <p:nvSpPr>
          <p:cNvPr id="25" name="Shape 23"/>
          <p:cNvSpPr/>
          <p:nvPr/>
        </p:nvSpPr>
        <p:spPr>
          <a:xfrm>
            <a:off x="5074920" y="4023360"/>
            <a:ext cx="164592" cy="164592"/>
          </a:xfrm>
          <a:prstGeom prst="ellipse">
            <a:avLst/>
          </a:prstGeom>
          <a:solidFill>
            <a:srgbClr val="D4A843"/>
          </a:solidFill>
        </p:spPr>
      </p:sp>
      <p:sp>
        <p:nvSpPr>
          <p:cNvPr id="26" name="Text 24"/>
          <p:cNvSpPr/>
          <p:nvPr/>
        </p:nvSpPr>
        <p:spPr>
          <a:xfrm>
            <a:off x="5349240" y="3977640"/>
            <a:ext cx="3063240" cy="777240"/>
          </a:xfrm>
          <a:prstGeom prst="rect">
            <a:avLst/>
          </a:prstGeom>
          <a:noFill/>
        </p:spPr>
        <p:txBody>
          <a:bodyPr wrap="square" lIns="0" tIns="0" rIns="0" bIns="0" rtlCol="0" anchor="t"/>
          <a:lstStyle/>
          <a:p>
            <a:pPr marL="0" indent="0">
              <a:lnSpc>
                <a:spcPct val="130000"/>
              </a:lnSpc>
              <a:buNone/>
            </a:pPr>
            <a:r>
              <a:rPr lang="en-US" sz="1100" dirty="0">
                <a:solidFill>
                  <a:srgbClr val="2D2D2D"/>
                </a:solidFill>
                <a:latin typeface="微软雅黑" panose="020B0503020204020204" pitchFamily="34" charset="-122"/>
                <a:ea typeface="微软雅黑" panose="020B0503020204020204" pitchFamily="34" charset="-122"/>
                <a:cs typeface="微软雅黑" panose="020B0503020204020204" pitchFamily="34" charset="-120"/>
              </a:rPr>
              <a:t>理解中国外交，就是理解中国与世界的关系——这关乎每个人的未来。</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41E3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p:spPr>
      </p:sp>
      <p:sp>
        <p:nvSpPr>
          <p:cNvPr id="3" name="Shape 1"/>
          <p:cNvSpPr/>
          <p:nvPr/>
        </p:nvSpPr>
        <p:spPr>
          <a:xfrm>
            <a:off x="0" y="5088636"/>
            <a:ext cx="9144000" cy="54864"/>
          </a:xfrm>
          <a:prstGeom prst="rect">
            <a:avLst/>
          </a:prstGeom>
          <a:solidFill>
            <a:srgbClr val="D4A843"/>
          </a:solidFill>
        </p:spPr>
      </p:sp>
      <p:sp>
        <p:nvSpPr>
          <p:cNvPr id="4" name="Text 2"/>
          <p:cNvSpPr/>
          <p:nvPr/>
        </p:nvSpPr>
        <p:spPr>
          <a:xfrm>
            <a:off x="731520" y="274320"/>
            <a:ext cx="7680960" cy="502920"/>
          </a:xfrm>
          <a:prstGeom prst="rect">
            <a:avLst/>
          </a:prstGeom>
          <a:noFill/>
        </p:spPr>
        <p:txBody>
          <a:bodyPr wrap="square" lIns="0" tIns="0" rIns="0" bIns="0" rtlCol="0" anchor="ctr"/>
          <a:lstStyle/>
          <a:p>
            <a:pPr marL="0" indent="0" algn="ctr">
              <a:buNone/>
            </a:pPr>
            <a:r>
              <a:rPr lang="en-US" sz="2400" b="1" dirty="0">
                <a:solidFill>
                  <a:srgbClr val="D4A843"/>
                </a:solidFill>
                <a:latin typeface="黑体" panose="02010609060101010101" pitchFamily="34" charset="-122"/>
                <a:ea typeface="黑体" panose="02010609060101010101" pitchFamily="34" charset="-122"/>
                <a:cs typeface="黑体" panose="02010609060101010101" pitchFamily="34" charset="-120"/>
              </a:rPr>
              <a:t>💡 个人思考与启发（二）</a:t>
            </a:r>
            <a:endParaRPr lang="en-US" sz="2400" dirty="0"/>
          </a:p>
        </p:txBody>
      </p:sp>
      <p:sp>
        <p:nvSpPr>
          <p:cNvPr id="5" name="Text 3"/>
          <p:cNvSpPr/>
          <p:nvPr/>
        </p:nvSpPr>
        <p:spPr>
          <a:xfrm>
            <a:off x="731520" y="731520"/>
            <a:ext cx="7680960" cy="320040"/>
          </a:xfrm>
          <a:prstGeom prst="rect">
            <a:avLst/>
          </a:prstGeom>
          <a:noFill/>
        </p:spPr>
        <p:txBody>
          <a:bodyPr wrap="square" lIns="0" tIns="0" rIns="0" bIns="0" rtlCol="0" anchor="ctr"/>
          <a:lstStyle/>
          <a:p>
            <a:pPr marL="0" indent="0" algn="ctr">
              <a:buNone/>
            </a:pPr>
            <a:r>
              <a:rPr lang="en-US" sz="16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大国担当与青年责任</a:t>
            </a:r>
            <a:endParaRPr lang="en-US" sz="1600" dirty="0"/>
          </a:p>
        </p:txBody>
      </p:sp>
      <p:sp>
        <p:nvSpPr>
          <p:cNvPr id="6" name="Shape 4"/>
          <p:cNvSpPr/>
          <p:nvPr/>
        </p:nvSpPr>
        <p:spPr>
          <a:xfrm>
            <a:off x="457200" y="1325880"/>
            <a:ext cx="3931920" cy="3383280"/>
          </a:xfrm>
          <a:prstGeom prst="rect">
            <a:avLst/>
          </a:prstGeom>
          <a:solidFill>
            <a:srgbClr val="8B1A2B"/>
          </a:solidFill>
        </p:spPr>
      </p:sp>
      <p:sp>
        <p:nvSpPr>
          <p:cNvPr id="7" name="Text 5"/>
          <p:cNvSpPr/>
          <p:nvPr/>
        </p:nvSpPr>
        <p:spPr>
          <a:xfrm>
            <a:off x="731520" y="1417320"/>
            <a:ext cx="3383280" cy="411480"/>
          </a:xfrm>
          <a:prstGeom prst="rect">
            <a:avLst/>
          </a:prstGeom>
          <a:noFill/>
        </p:spPr>
        <p:txBody>
          <a:bodyPr wrap="square" lIns="0" tIns="0" rIns="0" bIns="0" rtlCol="0" anchor="ctr"/>
          <a:lstStyle/>
          <a:p>
            <a:pPr marL="0" indent="0" algn="ctr">
              <a:buNone/>
            </a:pPr>
            <a:r>
              <a:rPr lang="en-US" sz="1800" b="1" dirty="0">
                <a:solidFill>
                  <a:srgbClr val="D4A843"/>
                </a:solidFill>
                <a:latin typeface="黑体" panose="02010609060101010101" pitchFamily="34" charset="-122"/>
                <a:ea typeface="黑体" panose="02010609060101010101" pitchFamily="34" charset="-122"/>
                <a:cs typeface="黑体" panose="02010609060101010101" pitchFamily="34" charset="-120"/>
              </a:rPr>
              <a:t>什么是大国担当？</a:t>
            </a:r>
            <a:endParaRPr lang="en-US" sz="1800" dirty="0"/>
          </a:p>
        </p:txBody>
      </p:sp>
      <p:sp>
        <p:nvSpPr>
          <p:cNvPr id="8" name="Shape 6"/>
          <p:cNvSpPr/>
          <p:nvPr/>
        </p:nvSpPr>
        <p:spPr>
          <a:xfrm>
            <a:off x="1554480" y="1828800"/>
            <a:ext cx="1737360" cy="18288"/>
          </a:xfrm>
          <a:prstGeom prst="rect">
            <a:avLst/>
          </a:prstGeom>
          <a:solidFill>
            <a:srgbClr val="D4A843"/>
          </a:solidFill>
        </p:spPr>
      </p:sp>
      <p:sp>
        <p:nvSpPr>
          <p:cNvPr id="9" name="Text 7"/>
          <p:cNvSpPr/>
          <p:nvPr/>
        </p:nvSpPr>
        <p:spPr>
          <a:xfrm>
            <a:off x="731520" y="2011680"/>
            <a:ext cx="3383280" cy="548640"/>
          </a:xfrm>
          <a:prstGeom prst="rect">
            <a:avLst/>
          </a:prstGeom>
          <a:noFill/>
        </p:spPr>
        <p:txBody>
          <a:bodyPr wrap="square" lIns="0" tIns="0" rIns="0" bIns="0" rtlCol="0" anchor="t"/>
          <a:lstStyle/>
          <a:p>
            <a:pPr marL="0" indent="0">
              <a:lnSpc>
                <a:spcPct val="120000"/>
              </a:lnSpc>
              <a:buNone/>
            </a:pPr>
            <a:r>
              <a:rPr lang="en-US" sz="1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不只是经济体量大，更是为世界提供公共产品</a:t>
            </a:r>
            <a:endParaRPr lang="en-US" sz="1200" dirty="0"/>
          </a:p>
        </p:txBody>
      </p:sp>
      <p:sp>
        <p:nvSpPr>
          <p:cNvPr id="10" name="Text 8"/>
          <p:cNvSpPr/>
          <p:nvPr/>
        </p:nvSpPr>
        <p:spPr>
          <a:xfrm>
            <a:off x="731520" y="2651760"/>
            <a:ext cx="3383280" cy="548640"/>
          </a:xfrm>
          <a:prstGeom prst="rect">
            <a:avLst/>
          </a:prstGeom>
          <a:noFill/>
        </p:spPr>
        <p:txBody>
          <a:bodyPr wrap="square" lIns="0" tIns="0" rIns="0" bIns="0" rtlCol="0" anchor="t"/>
          <a:lstStyle/>
          <a:p>
            <a:pPr marL="0" indent="0">
              <a:lnSpc>
                <a:spcPct val="120000"/>
              </a:lnSpc>
              <a:buNone/>
            </a:pPr>
            <a:r>
              <a:rPr lang="en-US" sz="1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在气候变化、公共卫生、维和等领域承担责任</a:t>
            </a:r>
            <a:endParaRPr lang="en-US" sz="1200" dirty="0"/>
          </a:p>
        </p:txBody>
      </p:sp>
      <p:sp>
        <p:nvSpPr>
          <p:cNvPr id="11" name="Text 9"/>
          <p:cNvSpPr/>
          <p:nvPr/>
        </p:nvSpPr>
        <p:spPr>
          <a:xfrm>
            <a:off x="731520" y="3291840"/>
            <a:ext cx="3383280" cy="548640"/>
          </a:xfrm>
          <a:prstGeom prst="rect">
            <a:avLst/>
          </a:prstGeom>
          <a:noFill/>
        </p:spPr>
        <p:txBody>
          <a:bodyPr wrap="square" lIns="0" tIns="0" rIns="0" bIns="0" rtlCol="0" anchor="t"/>
          <a:lstStyle/>
          <a:p>
            <a:pPr marL="0" indent="0">
              <a:lnSpc>
                <a:spcPct val="120000"/>
              </a:lnSpc>
              <a:buNone/>
            </a:pPr>
            <a:r>
              <a:rPr lang="en-US" sz="1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以人类命运共同体理念引领全球治理</a:t>
            </a:r>
            <a:endParaRPr lang="en-US" sz="1200" dirty="0"/>
          </a:p>
        </p:txBody>
      </p:sp>
      <p:sp>
        <p:nvSpPr>
          <p:cNvPr id="12" name="Text 10"/>
          <p:cNvSpPr/>
          <p:nvPr/>
        </p:nvSpPr>
        <p:spPr>
          <a:xfrm>
            <a:off x="731520" y="3931920"/>
            <a:ext cx="3383280" cy="548640"/>
          </a:xfrm>
          <a:prstGeom prst="rect">
            <a:avLst/>
          </a:prstGeom>
          <a:noFill/>
        </p:spPr>
        <p:txBody>
          <a:bodyPr wrap="square" lIns="0" tIns="0" rIns="0" bIns="0" rtlCol="0" anchor="t"/>
          <a:lstStyle/>
          <a:p>
            <a:pPr marL="0" indent="0">
              <a:lnSpc>
                <a:spcPct val="120000"/>
              </a:lnSpc>
              <a:buNone/>
            </a:pPr>
            <a:r>
              <a:rPr lang="en-US" sz="1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让发展成果惠及更多国家和人民</a:t>
            </a:r>
            <a:endParaRPr lang="en-US" sz="1200" dirty="0"/>
          </a:p>
        </p:txBody>
      </p:sp>
      <p:sp>
        <p:nvSpPr>
          <p:cNvPr id="13" name="Shape 11"/>
          <p:cNvSpPr/>
          <p:nvPr/>
        </p:nvSpPr>
        <p:spPr>
          <a:xfrm>
            <a:off x="4754880" y="1325880"/>
            <a:ext cx="3931920" cy="3383280"/>
          </a:xfrm>
          <a:prstGeom prst="rect">
            <a:avLst/>
          </a:prstGeom>
          <a:solidFill>
            <a:srgbClr val="8B1A2B"/>
          </a:solidFill>
        </p:spPr>
      </p:sp>
      <p:sp>
        <p:nvSpPr>
          <p:cNvPr id="14" name="Text 12"/>
          <p:cNvSpPr/>
          <p:nvPr/>
        </p:nvSpPr>
        <p:spPr>
          <a:xfrm>
            <a:off x="5029200" y="1417320"/>
            <a:ext cx="3383280" cy="411480"/>
          </a:xfrm>
          <a:prstGeom prst="rect">
            <a:avLst/>
          </a:prstGeom>
          <a:noFill/>
        </p:spPr>
        <p:txBody>
          <a:bodyPr wrap="square" lIns="0" tIns="0" rIns="0" bIns="0" rtlCol="0" anchor="ctr"/>
          <a:lstStyle/>
          <a:p>
            <a:pPr marL="0" indent="0" algn="ctr">
              <a:buNone/>
            </a:pPr>
            <a:r>
              <a:rPr lang="en-US" sz="1800" b="1" dirty="0">
                <a:solidFill>
                  <a:srgbClr val="D4A843"/>
                </a:solidFill>
                <a:latin typeface="黑体" panose="02010609060101010101" pitchFamily="34" charset="-122"/>
                <a:ea typeface="黑体" panose="02010609060101010101" pitchFamily="34" charset="-122"/>
                <a:cs typeface="黑体" panose="02010609060101010101" pitchFamily="34" charset="-120"/>
              </a:rPr>
              <a:t>青年能做什么？</a:t>
            </a:r>
            <a:endParaRPr lang="en-US" sz="1800" dirty="0"/>
          </a:p>
        </p:txBody>
      </p:sp>
      <p:sp>
        <p:nvSpPr>
          <p:cNvPr id="15" name="Shape 13"/>
          <p:cNvSpPr/>
          <p:nvPr/>
        </p:nvSpPr>
        <p:spPr>
          <a:xfrm>
            <a:off x="5852160" y="1828800"/>
            <a:ext cx="1737360" cy="18288"/>
          </a:xfrm>
          <a:prstGeom prst="rect">
            <a:avLst/>
          </a:prstGeom>
          <a:solidFill>
            <a:srgbClr val="D4A843"/>
          </a:solidFill>
        </p:spPr>
      </p:sp>
      <p:sp>
        <p:nvSpPr>
          <p:cNvPr id="16" name="Text 14"/>
          <p:cNvSpPr/>
          <p:nvPr/>
        </p:nvSpPr>
        <p:spPr>
          <a:xfrm>
            <a:off x="5029200" y="2011680"/>
            <a:ext cx="3383280" cy="548640"/>
          </a:xfrm>
          <a:prstGeom prst="rect">
            <a:avLst/>
          </a:prstGeom>
          <a:noFill/>
        </p:spPr>
        <p:txBody>
          <a:bodyPr wrap="square" lIns="0" tIns="0" rIns="0" bIns="0" rtlCol="0" anchor="t"/>
          <a:lstStyle/>
          <a:p>
            <a:pPr marL="0" indent="0">
              <a:lnSpc>
                <a:spcPct val="120000"/>
              </a:lnSpc>
              <a:buNone/>
            </a:pPr>
            <a:r>
              <a:rPr lang="en-US" sz="1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培养国际视野：关注全球议题，理解中国立场</a:t>
            </a:r>
            <a:endParaRPr lang="en-US" sz="1200" dirty="0"/>
          </a:p>
        </p:txBody>
      </p:sp>
      <p:sp>
        <p:nvSpPr>
          <p:cNvPr id="17" name="Text 15"/>
          <p:cNvSpPr/>
          <p:nvPr/>
        </p:nvSpPr>
        <p:spPr>
          <a:xfrm>
            <a:off x="5029200" y="2651760"/>
            <a:ext cx="3383280" cy="548640"/>
          </a:xfrm>
          <a:prstGeom prst="rect">
            <a:avLst/>
          </a:prstGeom>
          <a:noFill/>
        </p:spPr>
        <p:txBody>
          <a:bodyPr wrap="square" lIns="0" tIns="0" rIns="0" bIns="0" rtlCol="0" anchor="t"/>
          <a:lstStyle/>
          <a:p>
            <a:pPr marL="0" indent="0">
              <a:lnSpc>
                <a:spcPct val="120000"/>
              </a:lnSpc>
              <a:buNone/>
            </a:pPr>
            <a:r>
              <a:rPr lang="en-US" sz="1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讲好中国故事：用世界听得懂的语言传播中国文化</a:t>
            </a:r>
            <a:endParaRPr lang="en-US" sz="1200" dirty="0"/>
          </a:p>
        </p:txBody>
      </p:sp>
      <p:sp>
        <p:nvSpPr>
          <p:cNvPr id="18" name="Text 16"/>
          <p:cNvSpPr/>
          <p:nvPr/>
        </p:nvSpPr>
        <p:spPr>
          <a:xfrm>
            <a:off x="5029200" y="3291840"/>
            <a:ext cx="3383280" cy="548640"/>
          </a:xfrm>
          <a:prstGeom prst="rect">
            <a:avLst/>
          </a:prstGeom>
          <a:noFill/>
        </p:spPr>
        <p:txBody>
          <a:bodyPr wrap="square" lIns="0" tIns="0" rIns="0" bIns="0" rtlCol="0" anchor="t"/>
          <a:lstStyle/>
          <a:p>
            <a:pPr marL="0" indent="0">
              <a:lnSpc>
                <a:spcPct val="120000"/>
              </a:lnSpc>
              <a:buNone/>
            </a:pPr>
            <a:r>
              <a:rPr lang="en-US" sz="1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参与跨文化交流：留学、志愿服务、国际组织实习</a:t>
            </a:r>
            <a:endParaRPr lang="en-US" sz="1200" dirty="0"/>
          </a:p>
        </p:txBody>
      </p:sp>
      <p:sp>
        <p:nvSpPr>
          <p:cNvPr id="19" name="Text 17"/>
          <p:cNvSpPr/>
          <p:nvPr/>
        </p:nvSpPr>
        <p:spPr>
          <a:xfrm>
            <a:off x="5029200" y="3931920"/>
            <a:ext cx="3383280" cy="548640"/>
          </a:xfrm>
          <a:prstGeom prst="rect">
            <a:avLst/>
          </a:prstGeom>
          <a:noFill/>
        </p:spPr>
        <p:txBody>
          <a:bodyPr wrap="square" lIns="0" tIns="0" rIns="0" bIns="0" rtlCol="0" anchor="t"/>
          <a:lstStyle/>
          <a:p>
            <a:pPr marL="0" indent="0">
              <a:lnSpc>
                <a:spcPct val="120000"/>
              </a:lnSpc>
              <a:buNone/>
            </a:pPr>
            <a:r>
              <a:rPr lang="en-US" sz="1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夯实专业能力：以专业本领服务国家战略需求</a:t>
            </a:r>
            <a:endParaRPr lang="en-US" sz="1200" dirty="0"/>
          </a:p>
        </p:txBody>
      </p:sp>
      <p:sp>
        <p:nvSpPr>
          <p:cNvPr id="20" name="Text 18"/>
          <p:cNvSpPr/>
          <p:nvPr/>
        </p:nvSpPr>
        <p:spPr>
          <a:xfrm>
            <a:off x="731520" y="4754880"/>
            <a:ext cx="7680960" cy="274320"/>
          </a:xfrm>
          <a:prstGeom prst="rect">
            <a:avLst/>
          </a:prstGeom>
          <a:noFill/>
        </p:spPr>
        <p:txBody>
          <a:bodyPr wrap="square" lIns="0" tIns="0" rIns="0" bIns="0" rtlCol="0" anchor="ctr"/>
          <a:lstStyle/>
          <a:p>
            <a:pPr marL="0" indent="0" algn="ctr">
              <a:buNone/>
            </a:pPr>
            <a:r>
              <a:rPr lang="en-US" sz="1100" i="1" dirty="0">
                <a:solidFill>
                  <a:srgbClr val="FFF3D4"/>
                </a:solidFill>
                <a:latin typeface="微软雅黑" panose="020B0503020204020204" pitchFamily="34" charset="-122"/>
                <a:ea typeface="微软雅黑" panose="020B0503020204020204" pitchFamily="34" charset="-122"/>
                <a:cs typeface="微软雅黑" panose="020B0503020204020204" pitchFamily="34" charset="-120"/>
              </a:rPr>
              <a:t>「 各美其美，美人之美，美美与共，天下大同 」 —— 费孝通</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41E3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p:spPr>
      </p:sp>
      <p:sp>
        <p:nvSpPr>
          <p:cNvPr id="3" name="Shape 1"/>
          <p:cNvSpPr/>
          <p:nvPr/>
        </p:nvSpPr>
        <p:spPr>
          <a:xfrm>
            <a:off x="0" y="5070348"/>
            <a:ext cx="9144000" cy="73152"/>
          </a:xfrm>
          <a:prstGeom prst="rect">
            <a:avLst/>
          </a:prstGeom>
          <a:solidFill>
            <a:srgbClr val="D4A843"/>
          </a:solidFill>
        </p:spPr>
      </p:sp>
      <p:sp>
        <p:nvSpPr>
          <p:cNvPr id="4" name="Shape 2"/>
          <p:cNvSpPr/>
          <p:nvPr/>
        </p:nvSpPr>
        <p:spPr>
          <a:xfrm>
            <a:off x="1371600" y="1097280"/>
            <a:ext cx="6400800" cy="2926080"/>
          </a:xfrm>
          <a:prstGeom prst="rect">
            <a:avLst/>
          </a:prstGeom>
          <a:solidFill>
            <a:srgbClr val="8B1A2B"/>
          </a:solidFill>
          <a:effectLst>
            <a:outerShdw blurRad="101600" dist="38100" dir="8100000" algn="bl" rotWithShape="0">
              <a:srgbClr val="000000">
                <a:alpha val="25000"/>
              </a:srgbClr>
            </a:outerShdw>
          </a:effectLst>
        </p:spPr>
      </p:sp>
      <p:sp>
        <p:nvSpPr>
          <p:cNvPr id="5" name="Shape 3"/>
          <p:cNvSpPr/>
          <p:nvPr/>
        </p:nvSpPr>
        <p:spPr>
          <a:xfrm>
            <a:off x="1508760" y="1234440"/>
            <a:ext cx="6126480" cy="2651760"/>
          </a:xfrm>
          <a:prstGeom prst="rect">
            <a:avLst/>
          </a:prstGeom>
          <a:solidFill>
            <a:srgbClr val="000000">
              <a:alpha val="0"/>
            </a:srgbClr>
          </a:solidFill>
          <a:ln w="25400">
            <a:solidFill>
              <a:srgbClr val="D4A843"/>
            </a:solidFill>
            <a:prstDash val="solid"/>
          </a:ln>
        </p:spPr>
      </p:sp>
      <p:sp>
        <p:nvSpPr>
          <p:cNvPr id="6" name="Text 4"/>
          <p:cNvSpPr/>
          <p:nvPr/>
        </p:nvSpPr>
        <p:spPr>
          <a:xfrm>
            <a:off x="1508760" y="1554480"/>
            <a:ext cx="6126480" cy="1097280"/>
          </a:xfrm>
          <a:prstGeom prst="rect">
            <a:avLst/>
          </a:prstGeom>
          <a:noFill/>
        </p:spPr>
        <p:txBody>
          <a:bodyPr wrap="square" lIns="0" tIns="0" rIns="0" bIns="0" rtlCol="0" anchor="ctr"/>
          <a:lstStyle/>
          <a:p>
            <a:pPr marL="0" indent="0" algn="ctr">
              <a:buNone/>
            </a:pPr>
            <a:r>
              <a:rPr lang="en-US" sz="4800" b="1" dirty="0">
                <a:solidFill>
                  <a:srgbClr val="D4A843"/>
                </a:solidFill>
                <a:latin typeface="黑体" panose="02010609060101010101" pitchFamily="34" charset="-122"/>
                <a:ea typeface="黑体" panose="02010609060101010101" pitchFamily="34" charset="-122"/>
                <a:cs typeface="黑体" panose="02010609060101010101" pitchFamily="34" charset="-120"/>
              </a:rPr>
              <a:t>谢谢观看</a:t>
            </a:r>
            <a:endParaRPr lang="en-US" sz="4800" dirty="0"/>
          </a:p>
        </p:txBody>
      </p:sp>
      <p:sp>
        <p:nvSpPr>
          <p:cNvPr id="7" name="Shape 5"/>
          <p:cNvSpPr/>
          <p:nvPr/>
        </p:nvSpPr>
        <p:spPr>
          <a:xfrm>
            <a:off x="3200400" y="2743200"/>
            <a:ext cx="2743200" cy="27432"/>
          </a:xfrm>
          <a:prstGeom prst="rect">
            <a:avLst/>
          </a:prstGeom>
          <a:solidFill>
            <a:srgbClr val="D4A843"/>
          </a:solidFill>
        </p:spPr>
      </p:sp>
      <p:sp>
        <p:nvSpPr>
          <p:cNvPr id="8" name="Text 6"/>
          <p:cNvSpPr/>
          <p:nvPr/>
        </p:nvSpPr>
        <p:spPr>
          <a:xfrm>
            <a:off x="1508760" y="2926080"/>
            <a:ext cx="6126480" cy="457200"/>
          </a:xfrm>
          <a:prstGeom prst="rect">
            <a:avLst/>
          </a:prstGeom>
          <a:noFill/>
        </p:spPr>
        <p:txBody>
          <a:bodyPr wrap="square" lIns="0" tIns="0" rIns="0" bIns="0" rtlCol="0" anchor="ctr"/>
          <a:lstStyle/>
          <a:p>
            <a:pPr marL="0" indent="0" algn="ctr">
              <a:buNone/>
            </a:pPr>
            <a:r>
              <a:rPr lang="en-US" sz="1600" dirty="0">
                <a:solidFill>
                  <a:srgbClr val="FFF8F0"/>
                </a:solidFill>
                <a:latin typeface="微软雅黑" panose="020B0503020204020204" pitchFamily="34" charset="-122"/>
                <a:ea typeface="微软雅黑" panose="020B0503020204020204" pitchFamily="34" charset="-122"/>
                <a:cs typeface="微软雅黑" panose="020B0503020204020204" pitchFamily="34" charset="-120"/>
              </a:rPr>
              <a:t>中国特色大国外交和推动构建人类命运共同体</a:t>
            </a:r>
            <a:endParaRPr lang="en-US" sz="1600" dirty="0"/>
          </a:p>
        </p:txBody>
      </p:sp>
      <p:sp>
        <p:nvSpPr>
          <p:cNvPr id="9" name="Text 7"/>
          <p:cNvSpPr/>
          <p:nvPr/>
        </p:nvSpPr>
        <p:spPr>
          <a:xfrm>
            <a:off x="1508760" y="3383280"/>
            <a:ext cx="6126480" cy="365760"/>
          </a:xfrm>
          <a:prstGeom prst="rect">
            <a:avLst/>
          </a:prstGeom>
          <a:noFill/>
        </p:spPr>
        <p:txBody>
          <a:bodyPr wrap="square" lIns="0" tIns="0" rIns="0" bIns="0" rtlCol="0" anchor="ctr"/>
          <a:lstStyle/>
          <a:p>
            <a:pPr marL="0" indent="0" algn="ctr">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2548</Words>
  <Application>WPS 演示</Application>
  <PresentationFormat>On-screen Show (16:9)</PresentationFormat>
  <Paragraphs>323</Paragraphs>
  <Slides>13</Slides>
  <Notes>15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宋体</vt:lpstr>
      <vt:lpstr>Wingdings</vt:lpstr>
      <vt:lpstr>黑体</vt:lpstr>
      <vt:lpstr>黑体</vt:lpstr>
      <vt:lpstr>微软雅黑</vt:lpstr>
      <vt:lpstr>微软雅黑</vt:lpstr>
      <vt:lpstr>Calibri</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中国特色大国外交和推动构建人类命运共同体</dc:title>
  <dc:creator>习概小组</dc:creator>
  <dc:subject>PptxGenJS Presentation</dc:subject>
  <cp:lastModifiedBy>Mannstein</cp:lastModifiedBy>
  <cp:revision>4</cp:revision>
  <dcterms:created xsi:type="dcterms:W3CDTF">2026-06-29T07:20:00Z</dcterms:created>
  <dcterms:modified xsi:type="dcterms:W3CDTF">2026-06-29T07:37:04Z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2BB01FBC165D4B1792AAE721544DCF14_12</vt:lpwstr>
  </property>
</Properties>
</file>